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72" r:id="rId2"/>
    <p:sldId id="273" r:id="rId3"/>
    <p:sldId id="288" r:id="rId4"/>
    <p:sldId id="259" r:id="rId5"/>
    <p:sldId id="284" r:id="rId6"/>
    <p:sldId id="283" r:id="rId7"/>
    <p:sldId id="286" r:id="rId8"/>
    <p:sldId id="287" r:id="rId9"/>
    <p:sldId id="285" r:id="rId10"/>
    <p:sldId id="268" r:id="rId11"/>
    <p:sldId id="289" r:id="rId12"/>
    <p:sldId id="290" r:id="rId13"/>
    <p:sldId id="291" r:id="rId14"/>
    <p:sldId id="293" r:id="rId15"/>
    <p:sldId id="292" r:id="rId16"/>
    <p:sldId id="282" r:id="rId17"/>
    <p:sldId id="294" r:id="rId18"/>
    <p:sldId id="295" r:id="rId19"/>
    <p:sldId id="296" r:id="rId20"/>
    <p:sldId id="298" r:id="rId21"/>
    <p:sldId id="299" r:id="rId22"/>
    <p:sldId id="281" r:id="rId23"/>
  </p:sldIdLst>
  <p:sldSz cx="12192000" cy="6858000"/>
  <p:notesSz cx="6858000" cy="9144000"/>
  <p:defaultTextStyle>
    <a:defPPr rtl="0">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4ED"/>
    <a:srgbClr val="F8F3F0"/>
    <a:srgbClr val="D7D1CF"/>
    <a:srgbClr val="D1D8B7"/>
    <a:srgbClr val="A09D79"/>
    <a:srgbClr val="AD5C4D"/>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111" d="100"/>
          <a:sy n="111" d="100"/>
        </p:scale>
        <p:origin x="594" y="78"/>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sorterViewPr>
    <p:cViewPr>
      <p:scale>
        <a:sx n="100" d="100"/>
        <a:sy n="100" d="100"/>
      </p:scale>
      <p:origin x="0" y="0"/>
    </p:cViewPr>
  </p:sorterViewPr>
  <p:notesViewPr>
    <p:cSldViewPr snapToGrid="0">
      <p:cViewPr varScale="1">
        <p:scale>
          <a:sx n="92" d="100"/>
          <a:sy n="92" d="100"/>
        </p:scale>
        <p:origin x="364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D913024-4032-4B4F-8680-09D5E08EDB6E}" type="datetimeFigureOut">
              <a:rPr lang="en-GB" smtClean="0"/>
              <a:t>06/02/2026</a:t>
            </a:fld>
            <a:endParaRPr lang="en-GB"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49E357A0-8177-46BC-BFCE-19D99E3453CC}" type="slidenum">
              <a:rPr lang="en-GB" smtClean="0"/>
              <a:t>‹#›</a:t>
            </a:fld>
            <a:endParaRPr lang="en-GB"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2AE225E-43E0-7047-8ADB-DD9EBB41B4D0}" type="datetimeFigureOut">
              <a:rPr lang="en-GB" noProof="0" smtClean="0"/>
              <a:t>06/02/2026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7C366290-4595-5745-A50F-D5EC13BAC604}" type="slidenum">
              <a:rPr lang="en-GB" noProof="0" smtClean="0"/>
              <a:t>‹#›</a:t>
            </a:fld>
            <a:endParaRPr lang="en-GB"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a:t>
            </a:fld>
            <a:endParaRPr lang="en-GB"/>
          </a:p>
        </p:txBody>
      </p:sp>
    </p:spTree>
    <p:extLst>
      <p:ext uri="{BB962C8B-B14F-4D97-AF65-F5344CB8AC3E}">
        <p14:creationId xmlns:p14="http://schemas.microsoft.com/office/powerpoint/2010/main" val="314958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2</a:t>
            </a:fld>
            <a:endParaRPr lang="en-GB" dirty="0"/>
          </a:p>
        </p:txBody>
      </p:sp>
    </p:spTree>
    <p:extLst>
      <p:ext uri="{BB962C8B-B14F-4D97-AF65-F5344CB8AC3E}">
        <p14:creationId xmlns:p14="http://schemas.microsoft.com/office/powerpoint/2010/main" val="2915729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3</a:t>
            </a:fld>
            <a:endParaRPr lang="en-GB"/>
          </a:p>
        </p:txBody>
      </p:sp>
    </p:spTree>
    <p:extLst>
      <p:ext uri="{BB962C8B-B14F-4D97-AF65-F5344CB8AC3E}">
        <p14:creationId xmlns:p14="http://schemas.microsoft.com/office/powerpoint/2010/main" val="1196028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4</a:t>
            </a:fld>
            <a:endParaRPr lang="en-GB"/>
          </a:p>
        </p:txBody>
      </p:sp>
    </p:spTree>
    <p:extLst>
      <p:ext uri="{BB962C8B-B14F-4D97-AF65-F5344CB8AC3E}">
        <p14:creationId xmlns:p14="http://schemas.microsoft.com/office/powerpoint/2010/main" val="1075896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5</a:t>
            </a:fld>
            <a:endParaRPr lang="en-GB"/>
          </a:p>
        </p:txBody>
      </p:sp>
    </p:spTree>
    <p:extLst>
      <p:ext uri="{BB962C8B-B14F-4D97-AF65-F5344CB8AC3E}">
        <p14:creationId xmlns:p14="http://schemas.microsoft.com/office/powerpoint/2010/main" val="776865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6</a:t>
            </a:fld>
            <a:endParaRPr lang="en-GB"/>
          </a:p>
        </p:txBody>
      </p:sp>
    </p:spTree>
    <p:extLst>
      <p:ext uri="{BB962C8B-B14F-4D97-AF65-F5344CB8AC3E}">
        <p14:creationId xmlns:p14="http://schemas.microsoft.com/office/powerpoint/2010/main" val="2017849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7</a:t>
            </a:fld>
            <a:endParaRPr lang="en-GB"/>
          </a:p>
        </p:txBody>
      </p:sp>
    </p:spTree>
    <p:extLst>
      <p:ext uri="{BB962C8B-B14F-4D97-AF65-F5344CB8AC3E}">
        <p14:creationId xmlns:p14="http://schemas.microsoft.com/office/powerpoint/2010/main" val="1938772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8</a:t>
            </a:fld>
            <a:endParaRPr lang="en-GB"/>
          </a:p>
        </p:txBody>
      </p:sp>
    </p:spTree>
    <p:extLst>
      <p:ext uri="{BB962C8B-B14F-4D97-AF65-F5344CB8AC3E}">
        <p14:creationId xmlns:p14="http://schemas.microsoft.com/office/powerpoint/2010/main" val="692589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9</a:t>
            </a:fld>
            <a:endParaRPr lang="en-GB"/>
          </a:p>
        </p:txBody>
      </p:sp>
    </p:spTree>
    <p:extLst>
      <p:ext uri="{BB962C8B-B14F-4D97-AF65-F5344CB8AC3E}">
        <p14:creationId xmlns:p14="http://schemas.microsoft.com/office/powerpoint/2010/main" val="3203316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10</a:t>
            </a:fld>
            <a:endParaRPr lang="en-GB" dirty="0"/>
          </a:p>
        </p:txBody>
      </p:sp>
    </p:spTree>
    <p:extLst>
      <p:ext uri="{BB962C8B-B14F-4D97-AF65-F5344CB8AC3E}">
        <p14:creationId xmlns:p14="http://schemas.microsoft.com/office/powerpoint/2010/main" val="3150707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11</a:t>
            </a:fld>
            <a:endParaRPr lang="en-GB" dirty="0"/>
          </a:p>
        </p:txBody>
      </p:sp>
    </p:spTree>
    <p:extLst>
      <p:ext uri="{BB962C8B-B14F-4D97-AF65-F5344CB8AC3E}">
        <p14:creationId xmlns:p14="http://schemas.microsoft.com/office/powerpoint/2010/main" val="3319055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12</a:t>
            </a:fld>
            <a:endParaRPr lang="en-GB" dirty="0"/>
          </a:p>
        </p:txBody>
      </p:sp>
    </p:spTree>
    <p:extLst>
      <p:ext uri="{BB962C8B-B14F-4D97-AF65-F5344CB8AC3E}">
        <p14:creationId xmlns:p14="http://schemas.microsoft.com/office/powerpoint/2010/main" val="3395761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13</a:t>
            </a:fld>
            <a:endParaRPr lang="en-GB" dirty="0"/>
          </a:p>
        </p:txBody>
      </p:sp>
    </p:spTree>
    <p:extLst>
      <p:ext uri="{BB962C8B-B14F-4D97-AF65-F5344CB8AC3E}">
        <p14:creationId xmlns:p14="http://schemas.microsoft.com/office/powerpoint/2010/main" val="1822455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14</a:t>
            </a:fld>
            <a:endParaRPr lang="en-GB" dirty="0"/>
          </a:p>
        </p:txBody>
      </p:sp>
    </p:spTree>
    <p:extLst>
      <p:ext uri="{BB962C8B-B14F-4D97-AF65-F5344CB8AC3E}">
        <p14:creationId xmlns:p14="http://schemas.microsoft.com/office/powerpoint/2010/main" val="222856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defPPr>
              <a:defRPr lang="en-GB"/>
            </a:defPPr>
          </a:lstStyle>
          <a:p>
            <a:pPr rtl="0"/>
            <a:endParaRPr lang="en-GB" dirty="0"/>
          </a:p>
        </p:txBody>
      </p:sp>
      <p:sp>
        <p:nvSpPr>
          <p:cNvPr id="4" name="Slide Number Placeholder 3"/>
          <p:cNvSpPr>
            <a:spLocks noGrp="1"/>
          </p:cNvSpPr>
          <p:nvPr>
            <p:ph type="sldNum" sz="quarter" idx="5"/>
          </p:nvPr>
        </p:nvSpPr>
        <p:spPr/>
        <p:txBody>
          <a:bodyPr rtlCol="0"/>
          <a:lstStyle>
            <a:defPPr>
              <a:defRPr lang="en-GB"/>
            </a:defPPr>
          </a:lstStyle>
          <a:p>
            <a:pPr rtl="0"/>
            <a:fld id="{7C366290-4595-5745-A50F-D5EC13BAC604}" type="slidenum">
              <a:rPr lang="en-GB" smtClean="0"/>
              <a:t>15</a:t>
            </a:fld>
            <a:endParaRPr lang="en-GB" dirty="0"/>
          </a:p>
        </p:txBody>
      </p:sp>
    </p:spTree>
    <p:extLst>
      <p:ext uri="{BB962C8B-B14F-4D97-AF65-F5344CB8AC3E}">
        <p14:creationId xmlns:p14="http://schemas.microsoft.com/office/powerpoint/2010/main" val="4026080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16</a:t>
            </a:fld>
            <a:endParaRPr lang="en-GB"/>
          </a:p>
        </p:txBody>
      </p:sp>
    </p:spTree>
    <p:extLst>
      <p:ext uri="{BB962C8B-B14F-4D97-AF65-F5344CB8AC3E}">
        <p14:creationId xmlns:p14="http://schemas.microsoft.com/office/powerpoint/2010/main" val="3191939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17</a:t>
            </a:fld>
            <a:endParaRPr lang="en-GB"/>
          </a:p>
        </p:txBody>
      </p:sp>
    </p:spTree>
    <p:extLst>
      <p:ext uri="{BB962C8B-B14F-4D97-AF65-F5344CB8AC3E}">
        <p14:creationId xmlns:p14="http://schemas.microsoft.com/office/powerpoint/2010/main" val="4285050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18</a:t>
            </a:fld>
            <a:endParaRPr lang="en-GB"/>
          </a:p>
        </p:txBody>
      </p:sp>
    </p:spTree>
    <p:extLst>
      <p:ext uri="{BB962C8B-B14F-4D97-AF65-F5344CB8AC3E}">
        <p14:creationId xmlns:p14="http://schemas.microsoft.com/office/powerpoint/2010/main" val="3955623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19</a:t>
            </a:fld>
            <a:endParaRPr lang="en-GB"/>
          </a:p>
        </p:txBody>
      </p:sp>
    </p:spTree>
    <p:extLst>
      <p:ext uri="{BB962C8B-B14F-4D97-AF65-F5344CB8AC3E}">
        <p14:creationId xmlns:p14="http://schemas.microsoft.com/office/powerpoint/2010/main" val="3307085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20</a:t>
            </a:fld>
            <a:endParaRPr lang="en-GB"/>
          </a:p>
        </p:txBody>
      </p:sp>
    </p:spTree>
    <p:extLst>
      <p:ext uri="{BB962C8B-B14F-4D97-AF65-F5344CB8AC3E}">
        <p14:creationId xmlns:p14="http://schemas.microsoft.com/office/powerpoint/2010/main" val="1872806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21</a:t>
            </a:fld>
            <a:endParaRPr lang="en-GB"/>
          </a:p>
        </p:txBody>
      </p:sp>
    </p:spTree>
    <p:extLst>
      <p:ext uri="{BB962C8B-B14F-4D97-AF65-F5344CB8AC3E}">
        <p14:creationId xmlns:p14="http://schemas.microsoft.com/office/powerpoint/2010/main" val="680270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22</a:t>
            </a:fld>
            <a:endParaRPr lang="en-GB"/>
          </a:p>
        </p:txBody>
      </p:sp>
    </p:spTree>
    <p:extLst>
      <p:ext uri="{BB962C8B-B14F-4D97-AF65-F5344CB8AC3E}">
        <p14:creationId xmlns:p14="http://schemas.microsoft.com/office/powerpoint/2010/main" val="17985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rtlCol="0" anchor="b"/>
          <a:lstStyle>
            <a:lvl1pPr algn="ctr">
              <a:defRPr lang="en-GB" sz="6000"/>
            </a:lvl1pPr>
          </a:lstStyle>
          <a:p>
            <a:pPr rtl="0"/>
            <a:r>
              <a:rPr lang="en-GB"/>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rtlCol="0"/>
          <a:lstStyle>
            <a:lvl1pPr marL="0" indent="0" algn="ctr">
              <a:buNone/>
              <a:defRPr lang="en-GB" sz="2400">
                <a:solidFill>
                  <a:schemeClr val="tx2"/>
                </a:solidFill>
              </a:defRPr>
            </a:lvl1pPr>
            <a:lvl2pPr marL="457200" indent="0" algn="ctr">
              <a:buNone/>
              <a:defRPr lang="en-GB" sz="2000"/>
            </a:lvl2pPr>
            <a:lvl3pPr marL="914400" indent="0" algn="ctr">
              <a:buNone/>
              <a:defRPr lang="en-GB" sz="1800"/>
            </a:lvl3pPr>
            <a:lvl4pPr marL="1371600" indent="0" algn="ctr">
              <a:buNone/>
              <a:defRPr lang="en-GB" sz="1600"/>
            </a:lvl4pPr>
            <a:lvl5pPr marL="1828800" indent="0" algn="ctr">
              <a:buNone/>
              <a:defRPr lang="en-GB" sz="1600"/>
            </a:lvl5pPr>
            <a:lvl6pPr marL="2286000" indent="0" algn="ctr">
              <a:buNone/>
              <a:defRPr lang="en-GB" sz="1600"/>
            </a:lvl6pPr>
            <a:lvl7pPr marL="2743200" indent="0" algn="ctr">
              <a:buNone/>
              <a:defRPr lang="en-GB" sz="1600"/>
            </a:lvl7pPr>
            <a:lvl8pPr marL="3200400" indent="0" algn="ctr">
              <a:buNone/>
              <a:defRPr lang="en-GB" sz="1600"/>
            </a:lvl8pPr>
            <a:lvl9pPr marL="3657600" indent="0" algn="ctr">
              <a:buNone/>
              <a:defRPr lang="en-GB" sz="1600"/>
            </a:lvl9pPr>
          </a:lstStyle>
          <a:p>
            <a:pPr rtl="0"/>
            <a:r>
              <a:rPr lang="en-US"/>
              <a:t>Click to edit Master subtitle style</a:t>
            </a:r>
            <a:endParaRPr lang="en-GB"/>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rtlCol="0"/>
          <a:lstStyle>
            <a:lvl1pPr algn="ctr">
              <a:defRPr lang="en-GB">
                <a:solidFill>
                  <a:schemeClr val="accent1"/>
                </a:solidFill>
              </a:defRPr>
            </a:lvl1pPr>
          </a:lstStyle>
          <a:p>
            <a:pPr rtl="0"/>
            <a:r>
              <a:rPr lang="en-GB"/>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rtlCol="0"/>
          <a:lstStyle>
            <a:lvl1pPr marL="0" indent="0" algn="r">
              <a:buNone/>
              <a:defRPr lang="en-GB" sz="2400" cap="all" baseline="0"/>
            </a:lvl1pPr>
            <a:lvl2pPr marL="457200" indent="0" algn="r">
              <a:buNone/>
              <a:defRPr lang="en-GB" sz="1800">
                <a:latin typeface="+mj-lt"/>
              </a:defRPr>
            </a:lvl2pPr>
            <a:lvl3pPr marL="914400" indent="0" algn="r">
              <a:buNone/>
              <a:defRPr lang="en-GB"/>
            </a:lvl3pPr>
            <a:lvl4pPr marL="1371600" indent="0" algn="r">
              <a:buNone/>
              <a:defRPr lang="en-GB"/>
            </a:lvl4pPr>
            <a:lvl5pPr marL="1828800" indent="0" algn="r">
              <a:buNone/>
              <a:defRPr lang="en-GB"/>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rtlCol="0" anchor="b"/>
          <a:lstStyle>
            <a:lvl1pPr>
              <a:defRPr lang="en-GB" sz="4800"/>
            </a:lvl1pPr>
          </a:lstStyle>
          <a:p>
            <a:pPr rtl="0"/>
            <a:r>
              <a:rPr lang="en-GB"/>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rtlCol="0" anchor="b"/>
          <a:lstStyle>
            <a:lvl1pPr>
              <a:defRPr lang="en-GB" sz="6000">
                <a:solidFill>
                  <a:schemeClr val="accent1"/>
                </a:solidFill>
              </a:defRPr>
            </a:lvl1pPr>
          </a:lstStyle>
          <a:p>
            <a:pPr rtl="0"/>
            <a:r>
              <a:rPr lang="en-GB"/>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rtlCol="0"/>
          <a:lstStyle>
            <a:lvl1pPr marL="0" indent="0">
              <a:buNone/>
              <a:defRPr lang="en-GB" sz="2400">
                <a:solidFill>
                  <a:schemeClr val="accent1"/>
                </a:solidFill>
              </a:defRPr>
            </a:lvl1pPr>
            <a:lvl2pPr marL="457200" indent="0">
              <a:buNone/>
              <a:defRPr lang="en-GB" sz="2000">
                <a:solidFill>
                  <a:schemeClr val="tx1">
                    <a:tint val="75000"/>
                  </a:schemeClr>
                </a:solidFill>
              </a:defRPr>
            </a:lvl2pPr>
            <a:lvl3pPr marL="914400" indent="0">
              <a:buNone/>
              <a:defRPr lang="en-GB" sz="1800">
                <a:solidFill>
                  <a:schemeClr val="tx1">
                    <a:tint val="75000"/>
                  </a:schemeClr>
                </a:solidFill>
              </a:defRPr>
            </a:lvl3pPr>
            <a:lvl4pPr marL="1371600" indent="0">
              <a:buNone/>
              <a:defRPr lang="en-GB" sz="1600">
                <a:solidFill>
                  <a:schemeClr val="tx1">
                    <a:tint val="75000"/>
                  </a:schemeClr>
                </a:solidFill>
              </a:defRPr>
            </a:lvl4pPr>
            <a:lvl5pPr marL="1828800" indent="0">
              <a:buNone/>
              <a:defRPr lang="en-GB" sz="1600">
                <a:solidFill>
                  <a:schemeClr val="tx1">
                    <a:tint val="75000"/>
                  </a:schemeClr>
                </a:solidFill>
              </a:defRPr>
            </a:lvl5pPr>
            <a:lvl6pPr marL="2286000" indent="0">
              <a:buNone/>
              <a:defRPr lang="en-GB" sz="1600">
                <a:solidFill>
                  <a:schemeClr val="tx1">
                    <a:tint val="75000"/>
                  </a:schemeClr>
                </a:solidFill>
              </a:defRPr>
            </a:lvl6pPr>
            <a:lvl7pPr marL="2743200" indent="0">
              <a:buNone/>
              <a:defRPr lang="en-GB" sz="1600">
                <a:solidFill>
                  <a:schemeClr val="tx1">
                    <a:tint val="75000"/>
                  </a:schemeClr>
                </a:solidFill>
              </a:defRPr>
            </a:lvl7pPr>
            <a:lvl8pPr marL="3200400" indent="0">
              <a:buNone/>
              <a:defRPr lang="en-GB" sz="1600">
                <a:solidFill>
                  <a:schemeClr val="tx1">
                    <a:tint val="75000"/>
                  </a:schemeClr>
                </a:solidFill>
              </a:defRPr>
            </a:lvl8pPr>
            <a:lvl9pPr marL="3657600" indent="0">
              <a:buNone/>
              <a:defRPr lang="en-GB" sz="1600">
                <a:solidFill>
                  <a:schemeClr val="tx1">
                    <a:tint val="75000"/>
                  </a:schemeClr>
                </a:solidFill>
              </a:defRPr>
            </a:lvl9pPr>
          </a:lstStyle>
          <a:p>
            <a:pPr lvl="0" rt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rtlCol="0">
            <a:normAutofit/>
          </a:bodyPr>
          <a:lstStyle>
            <a:lvl1pPr marL="0" indent="0" algn="ctr">
              <a:lnSpc>
                <a:spcPct val="100000"/>
              </a:lnSpc>
              <a:spcBef>
                <a:spcPts val="0"/>
              </a:spcBef>
              <a:buNone/>
              <a:defRPr lang="en-GB" sz="2400"/>
            </a:lvl1pPr>
          </a:lstStyle>
          <a:p>
            <a:pPr lvl="0" rt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rtlCol="0"/>
          <a:lstStyle>
            <a:lvl1pPr algn="ctr">
              <a:defRPr lang="en-GB" sz="2400" cap="all" baseline="0">
                <a:latin typeface="Gill Sans Nova" panose="020B0602020104020203" pitchFamily="34" charset="0"/>
              </a:defRPr>
            </a:lvl1pPr>
          </a:lstStyle>
          <a:p>
            <a:pPr rtl="0"/>
            <a:r>
              <a:rPr lang="en-US"/>
              <a:t>Click to edit Master title style</a:t>
            </a:r>
            <a:endParaRPr lang="en-GB"/>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rtlCol="0" anchor="b">
            <a:noAutofit/>
          </a:bodyPr>
          <a:lstStyle>
            <a:lvl1pPr marL="0" indent="0" algn="ctr">
              <a:lnSpc>
                <a:spcPct val="100000"/>
              </a:lnSpc>
              <a:spcBef>
                <a:spcPts val="0"/>
              </a:spcBef>
              <a:buNone/>
              <a:defRPr lang="en-GB" sz="1800" cap="all" baseline="0">
                <a:latin typeface="Gill Sans Nova" panose="020B0602020104020203" pitchFamily="34" charset="0"/>
              </a:defRPr>
            </a:lvl1pPr>
          </a:lstStyle>
          <a:p>
            <a:pPr lvl="0" rt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rtlCol="0" anchor="t">
            <a:noAutofit/>
          </a:bodyPr>
          <a:lstStyle>
            <a:lvl1pPr marL="0" indent="0" algn="ctr">
              <a:lnSpc>
                <a:spcPct val="100000"/>
              </a:lnSpc>
              <a:spcBef>
                <a:spcPts val="0"/>
              </a:spcBef>
              <a:buNone/>
              <a:defRPr lang="en-GB" sz="1800" cap="none" baseline="0"/>
            </a:lvl1pPr>
          </a:lstStyle>
          <a:p>
            <a:pPr lvl="0" rtl="0"/>
            <a:r>
              <a:rPr lang="en-GB"/>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rtlCol="0"/>
          <a:lstStyle>
            <a:defPPr>
              <a:defRPr lang="en-GB"/>
            </a:defPPr>
          </a:lstStyle>
          <a:p>
            <a:pPr rtl="0"/>
            <a:r>
              <a:rPr lang="en-GB"/>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rtlCol="0"/>
          <a:lstStyle>
            <a:defPPr>
              <a:defRPr lang="en-GB"/>
            </a:defPPr>
          </a:lstStyle>
          <a:p>
            <a:pPr rtl="0"/>
            <a:r>
              <a:rPr lang="en-GB"/>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rtlCol="0" anchor="ctr">
            <a:noAutofit/>
          </a:bodyPr>
          <a:lstStyle>
            <a:lvl1pPr marL="0" indent="0" algn="ctr">
              <a:buNone/>
              <a:defRPr lang="en-GB" sz="1800">
                <a:solidFill>
                  <a:schemeClr val="accent1"/>
                </a:solidFill>
              </a:defRPr>
            </a:lvl1pPr>
          </a:lstStyle>
          <a:p>
            <a:pPr rtl="0"/>
            <a:r>
              <a:rPr lang="en-US"/>
              <a:t>Click icon to add picture</a:t>
            </a:r>
            <a:endParaRPr lang="en-GB"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rtlCol="0" anchor="b">
            <a:noAutofit/>
          </a:bodyPr>
          <a:lstStyle>
            <a:lvl1pPr marL="0" indent="0" algn="ctr">
              <a:lnSpc>
                <a:spcPct val="100000"/>
              </a:lnSpc>
              <a:spcBef>
                <a:spcPts val="0"/>
              </a:spcBef>
              <a:buNone/>
              <a:defRPr lang="en-GB" sz="1400" cap="all" baseline="0">
                <a:latin typeface="Gill Sans Nova" panose="020B0602020104020203" pitchFamily="34" charset="0"/>
              </a:defRPr>
            </a:lvl1pPr>
          </a:lstStyle>
          <a:p>
            <a:pPr lvl="0" rt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rtlCol="0" anchor="t">
            <a:noAutofit/>
          </a:bodyPr>
          <a:lstStyle>
            <a:lvl1pPr marL="0" indent="0" algn="ctr">
              <a:lnSpc>
                <a:spcPct val="100000"/>
              </a:lnSpc>
              <a:spcBef>
                <a:spcPts val="0"/>
              </a:spcBef>
              <a:buNone/>
              <a:defRPr lang="en-GB" sz="1400" cap="none" baseline="0"/>
            </a:lvl1pPr>
          </a:lstStyle>
          <a:p>
            <a:pPr lvl="0" rtl="0"/>
            <a:r>
              <a:rPr lang="en-GB"/>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rtlCol="0" anchor="ctr">
            <a:noAutofit/>
          </a:bodyPr>
          <a:lstStyle>
            <a:lvl1pPr marL="0" indent="0" algn="ctr">
              <a:lnSpc>
                <a:spcPct val="100000"/>
              </a:lnSpc>
              <a:spcBef>
                <a:spcPts val="0"/>
              </a:spcBef>
              <a:buNone/>
              <a:defRPr lang="en-GB" sz="2000" cap="all" baseline="0">
                <a:latin typeface="Gill Sans Nova" panose="020B0602020104020203" pitchFamily="34" charset="0"/>
              </a:defRPr>
            </a:lvl1pPr>
            <a:lvl2pPr marL="0" indent="0" algn="ctr">
              <a:lnSpc>
                <a:spcPct val="100000"/>
              </a:lnSpc>
              <a:spcBef>
                <a:spcPts val="0"/>
              </a:spcBef>
              <a:buNone/>
              <a:defRPr lang="en-GB" sz="1800"/>
            </a:lvl2pPr>
          </a:lstStyle>
          <a:p>
            <a:pPr lvl="0" rtl="0"/>
            <a:r>
              <a:rPr lang="en-US"/>
              <a:t>Click to edit Master text styles</a:t>
            </a:r>
          </a:p>
          <a:p>
            <a:pPr lvl="1" rtl="0"/>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rtlCol="0"/>
          <a:lstStyle>
            <a:lvl1pPr>
              <a:defRPr lang="en-GB" sz="4800"/>
            </a:lvl1pPr>
          </a:lstStyle>
          <a:p>
            <a:pPr rtl="0"/>
            <a:r>
              <a:rPr lang="en-GB"/>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rtlCol="0" anchor="ctr">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rtlCol="0" anchor="b"/>
          <a:lstStyle>
            <a:lvl1pPr algn="ctr">
              <a:defRPr lang="en-GB" sz="6000"/>
            </a:lvl1pPr>
          </a:lstStyle>
          <a:p>
            <a:pPr rtl="0"/>
            <a:r>
              <a:rPr lang="en-GB"/>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rtlCol="0"/>
          <a:lstStyle>
            <a:lvl1pPr marL="0" indent="0" algn="ctr">
              <a:buNone/>
              <a:defRPr lang="en-GB" sz="2400">
                <a:solidFill>
                  <a:schemeClr val="tx2"/>
                </a:solidFill>
              </a:defRPr>
            </a:lvl1pPr>
            <a:lvl2pPr marL="457200" indent="0" algn="ctr">
              <a:buNone/>
              <a:defRPr lang="en-GB" sz="2000"/>
            </a:lvl2pPr>
            <a:lvl3pPr marL="914400" indent="0" algn="ctr">
              <a:buNone/>
              <a:defRPr lang="en-GB" sz="1800"/>
            </a:lvl3pPr>
            <a:lvl4pPr marL="1371600" indent="0" algn="ctr">
              <a:buNone/>
              <a:defRPr lang="en-GB" sz="1600"/>
            </a:lvl4pPr>
            <a:lvl5pPr marL="1828800" indent="0" algn="ctr">
              <a:buNone/>
              <a:defRPr lang="en-GB" sz="1600"/>
            </a:lvl5pPr>
            <a:lvl6pPr marL="2286000" indent="0" algn="ctr">
              <a:buNone/>
              <a:defRPr lang="en-GB" sz="1600"/>
            </a:lvl6pPr>
            <a:lvl7pPr marL="2743200" indent="0" algn="ctr">
              <a:buNone/>
              <a:defRPr lang="en-GB" sz="1600"/>
            </a:lvl7pPr>
            <a:lvl8pPr marL="3200400" indent="0" algn="ctr">
              <a:buNone/>
              <a:defRPr lang="en-GB" sz="1600"/>
            </a:lvl8pPr>
            <a:lvl9pPr marL="3657600" indent="0" algn="ctr">
              <a:buNone/>
              <a:defRPr lang="en-GB" sz="1600"/>
            </a:lvl9pPr>
          </a:lstStyle>
          <a:p>
            <a:pPr rtl="0"/>
            <a:r>
              <a:rPr lang="en-US"/>
              <a:t>Click to edit Master subtitle style</a:t>
            </a:r>
            <a:endParaRPr lang="en-GB"/>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rtlCol="0" anchor="b"/>
          <a:lstStyle>
            <a:lvl1pPr>
              <a:defRPr lang="en-GB" sz="3200"/>
            </a:lvl1pPr>
          </a:lstStyle>
          <a:p>
            <a:pPr rtl="0"/>
            <a:r>
              <a:rPr lang="en-GB"/>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rtlCol="0"/>
          <a:lstStyle>
            <a:lvl1pPr>
              <a:defRPr lang="en-GB" sz="3200"/>
            </a:lvl1pPr>
            <a:lvl2pPr>
              <a:defRPr lang="en-GB" sz="2800"/>
            </a:lvl2pPr>
            <a:lvl3pPr>
              <a:defRPr lang="en-GB" sz="2400"/>
            </a:lvl3pPr>
            <a:lvl4pPr>
              <a:defRPr lang="en-GB" sz="2000"/>
            </a:lvl4pPr>
            <a:lvl5pPr>
              <a:defRPr lang="en-GB" sz="2000"/>
            </a:lvl5pPr>
            <a:lvl6pPr>
              <a:defRPr lang="en-GB" sz="2000"/>
            </a:lvl6pPr>
            <a:lvl7pPr>
              <a:defRPr lang="en-GB" sz="2000"/>
            </a:lvl7pPr>
            <a:lvl8pPr>
              <a:defRPr lang="en-GB" sz="2000"/>
            </a:lvl8pPr>
            <a:lvl9pPr>
              <a:defRPr lang="en-GB" sz="200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rtlCol="0"/>
          <a:lstStyle>
            <a:lvl1pPr marL="0" indent="0">
              <a:buNone/>
              <a:defRPr lang="en-GB" sz="16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defPPr>
              <a:defRPr lang="en-GB"/>
            </a:defPPr>
          </a:lstStyle>
          <a:p>
            <a:pPr rtl="0"/>
            <a:r>
              <a:rPr lang="en-US"/>
              <a:t>Click to edit Master title style</a:t>
            </a:r>
            <a:endParaRPr lang="en-GB"/>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lang="en-GB" sz="1400">
                <a:solidFill>
                  <a:schemeClr val="tx1"/>
                </a:solidFill>
              </a:defRPr>
            </a:lvl1pPr>
          </a:lstStyle>
          <a:p>
            <a:pPr rtl="0"/>
            <a:r>
              <a:rPr lang="en-GB"/>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lang="en-GB" sz="1400">
                <a:solidFill>
                  <a:schemeClr val="tx1"/>
                </a:solidFill>
              </a:defRPr>
            </a:lvl1pPr>
          </a:lstStyle>
          <a:p>
            <a:pPr rtl="0"/>
            <a:r>
              <a:rPr lang="en-GB"/>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lang="en-GB" sz="1400">
                <a:solidFill>
                  <a:schemeClr val="tx1"/>
                </a:solidFill>
              </a:defRPr>
            </a:lvl1pPr>
          </a:lstStyle>
          <a:p>
            <a:pPr rtl="0"/>
            <a:fld id="{58FB4751-880F-D840-AAA9-3A15815CC996}" type="slidenum">
              <a:rPr lang="en-GB" smtClean="0"/>
              <a:pPr/>
              <a:t>‹#›</a:t>
            </a:fld>
            <a:endParaRPr lang="en-GB"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lang="en-GB"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p:bodyStyle>
    <p:otherStyle>
      <a:defPPr>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rtlCol="0"/>
          <a:lstStyle>
            <a:defPPr>
              <a:defRPr lang="en-GB"/>
            </a:defPPr>
          </a:lstStyle>
          <a:p>
            <a:pPr rtl="0"/>
            <a:r>
              <a:rPr lang="en-US" dirty="0" err="1">
                <a:solidFill>
                  <a:srgbClr val="000000"/>
                </a:solidFill>
                <a:latin typeface="Times New Roman" panose="02020603050405020304" pitchFamily="18" charset="0"/>
                <a:cs typeface="Times New Roman" panose="02020603050405020304" pitchFamily="18" charset="0"/>
              </a:rPr>
              <a:t>Bảng</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báo</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cáo</a:t>
            </a:r>
            <a:endParaRPr lang="en-GB"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rtlCol="0"/>
          <a:lstStyle>
            <a:defPPr>
              <a:defRPr lang="en-GB"/>
            </a:defPPr>
          </a:lstStyle>
          <a:p>
            <a:pPr rtl="0"/>
            <a:r>
              <a:rPr lang="en-US" dirty="0" err="1">
                <a:solidFill>
                  <a:srgbClr val="000000"/>
                </a:solidFill>
                <a:latin typeface="Times New Roman" panose="02020603050405020304" pitchFamily="18" charset="0"/>
                <a:cs typeface="Times New Roman" panose="02020603050405020304" pitchFamily="18" charset="0"/>
              </a:rPr>
              <a:t>Mục</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lục</a:t>
            </a:r>
            <a:endParaRPr lang="en-GB" dirty="0">
              <a:solidFill>
                <a:srgbClr val="000000"/>
              </a:solidFill>
              <a:latin typeface="Times New Roman" panose="02020603050405020304" pitchFamily="18" charset="0"/>
              <a:cs typeface="Times New Roman" panose="02020603050405020304" pitchFamily="18" charset="0"/>
            </a:endParaRP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1310642880"/>
              </p:ext>
            </p:extLst>
          </p:nvPr>
        </p:nvGraphicFramePr>
        <p:xfrm>
          <a:off x="5822830" y="1169988"/>
          <a:ext cx="6100884" cy="3927172"/>
        </p:xfrm>
        <a:graphic>
          <a:graphicData uri="http://schemas.openxmlformats.org/drawingml/2006/table">
            <a:tbl>
              <a:tblPr firstRow="1" bandRow="1"/>
              <a:tblGrid>
                <a:gridCol w="6100884">
                  <a:extLst>
                    <a:ext uri="{9D8B030D-6E8A-4147-A177-3AD203B41FA5}">
                      <a16:colId xmlns:a16="http://schemas.microsoft.com/office/drawing/2014/main" val="1563570424"/>
                    </a:ext>
                  </a:extLst>
                </a:gridCol>
              </a:tblGrid>
              <a:tr h="870801">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solidFill>
                            <a:srgbClr val="000000"/>
                          </a:solidFill>
                          <a:latin typeface="Times New Roman" panose="02020603050405020304" pitchFamily="18" charset="0"/>
                          <a:cs typeface="Times New Roman" panose="02020603050405020304" pitchFamily="18" charset="0"/>
                        </a:rPr>
                        <a:t>1.Tổng </a:t>
                      </a:r>
                      <a:r>
                        <a:rPr lang="en-GB" sz="2400" dirty="0" err="1">
                          <a:solidFill>
                            <a:srgbClr val="000000"/>
                          </a:solidFill>
                          <a:latin typeface="Times New Roman" panose="02020603050405020304" pitchFamily="18" charset="0"/>
                          <a:cs typeface="Times New Roman" panose="02020603050405020304" pitchFamily="18" charset="0"/>
                        </a:rPr>
                        <a:t>quan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chung</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tình</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hình</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công</a:t>
                      </a:r>
                      <a:r>
                        <a:rPr lang="en-GB" sz="2400" dirty="0">
                          <a:solidFill>
                            <a:srgbClr val="000000"/>
                          </a:solidFill>
                          <a:latin typeface="Times New Roman" panose="02020603050405020304" pitchFamily="18" charset="0"/>
                          <a:cs typeface="Times New Roman" panose="02020603050405020304" pitchFamily="18" charset="0"/>
                        </a:rPr>
                        <a:t> ty</a:t>
                      </a:r>
                    </a:p>
                    <a:p>
                      <a:pPr algn="r" rtl="0"/>
                      <a:r>
                        <a:rPr lang="en-GB" sz="2400" dirty="0">
                          <a:solidFill>
                            <a:srgbClr val="000000"/>
                          </a:solidFill>
                          <a:latin typeface="Times New Roman" panose="02020603050405020304" pitchFamily="18" charset="0"/>
                          <a:cs typeface="Times New Roman" panose="02020603050405020304" pitchFamily="18" charset="0"/>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1018790">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solidFill>
                            <a:srgbClr val="000000"/>
                          </a:solidFill>
                          <a:latin typeface="Times New Roman" panose="02020603050405020304" pitchFamily="18" charset="0"/>
                          <a:cs typeface="Times New Roman" panose="02020603050405020304" pitchFamily="18" charset="0"/>
                        </a:rPr>
                        <a:t>2.Tổng </a:t>
                      </a:r>
                      <a:r>
                        <a:rPr lang="en-GB" sz="2400" dirty="0" err="1">
                          <a:solidFill>
                            <a:srgbClr val="000000"/>
                          </a:solidFill>
                          <a:latin typeface="Times New Roman" panose="02020603050405020304" pitchFamily="18" charset="0"/>
                          <a:cs typeface="Times New Roman" panose="02020603050405020304" pitchFamily="18" charset="0"/>
                        </a:rPr>
                        <a:t>quan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chung</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về</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sản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phẩm</a:t>
                      </a:r>
                      <a:endParaRPr lang="en-GB" sz="2400" dirty="0">
                        <a:solidFill>
                          <a:srgbClr val="000000"/>
                        </a:solidFill>
                        <a:latin typeface="Times New Roman" panose="02020603050405020304" pitchFamily="18" charset="0"/>
                        <a:cs typeface="Times New Roman" panose="02020603050405020304" pitchFamily="18" charset="0"/>
                      </a:endParaRPr>
                    </a:p>
                    <a:p>
                      <a:pPr marL="0" algn="r" defTabSz="914400" rtl="0" eaLnBrk="1" latinLnBrk="0" hangingPunct="1"/>
                      <a:r>
                        <a:rPr lang="en-GB" sz="2400" kern="1200" dirty="0">
                          <a:solidFill>
                            <a:srgbClr val="000000"/>
                          </a:solidFill>
                          <a:latin typeface="Times New Roman" panose="02020603050405020304" pitchFamily="18" charset="0"/>
                          <a:ea typeface="+mn-ea"/>
                          <a:cs typeface="Times New Roman" panose="02020603050405020304" pitchFamily="18" charset="0"/>
                        </a:rPr>
                        <a:t>11</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1039583">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solidFill>
                            <a:srgbClr val="000000"/>
                          </a:solidFill>
                          <a:latin typeface="Times New Roman" panose="02020603050405020304" pitchFamily="18" charset="0"/>
                          <a:cs typeface="Times New Roman" panose="02020603050405020304" pitchFamily="18" charset="0"/>
                        </a:rPr>
                        <a:t> 3.Rò </a:t>
                      </a:r>
                      <a:r>
                        <a:rPr lang="en-GB" sz="2400" dirty="0" err="1">
                          <a:solidFill>
                            <a:srgbClr val="000000"/>
                          </a:solidFill>
                          <a:latin typeface="Times New Roman" panose="02020603050405020304" pitchFamily="18" charset="0"/>
                          <a:cs typeface="Times New Roman" panose="02020603050405020304" pitchFamily="18" charset="0"/>
                        </a:rPr>
                        <a:t>rì</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chiết</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khấu</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thị</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trường</a:t>
                      </a:r>
                      <a:endParaRPr lang="en-GB" sz="2400" dirty="0">
                        <a:solidFill>
                          <a:srgbClr val="000000"/>
                        </a:solidFill>
                        <a:latin typeface="Times New Roman" panose="02020603050405020304" pitchFamily="18" charset="0"/>
                        <a:cs typeface="Times New Roman" panose="02020603050405020304" pitchFamily="18" charset="0"/>
                      </a:endParaRPr>
                    </a:p>
                    <a:p>
                      <a:pPr marL="0" algn="r" defTabSz="914400" rtl="0" eaLnBrk="1" latinLnBrk="0" hangingPunct="1"/>
                      <a:r>
                        <a:rPr lang="en-GB" sz="2400" kern="1200" dirty="0">
                          <a:solidFill>
                            <a:srgbClr val="000000"/>
                          </a:solidFill>
                          <a:latin typeface="Times New Roman" panose="02020603050405020304" pitchFamily="18" charset="0"/>
                          <a:ea typeface="+mn-ea"/>
                          <a:cs typeface="Times New Roman" panose="02020603050405020304" pitchFamily="18" charset="0"/>
                        </a:rPr>
                        <a:t>17</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97998">
                <a:tc>
                  <a:txBody>
                    <a:bodyPr/>
                    <a:lstStyle>
                      <a:defPPr>
                        <a:defRPr lang="en-GB"/>
                      </a:defPPr>
                    </a:lstStyle>
                    <a:p>
                      <a:pPr marL="0" marR="0" lvl="0" indent="0" algn="r" defTabSz="914400" rtl="0" eaLnBrk="1" fontAlgn="auto" latinLnBrk="0" hangingPunct="1">
                        <a:lnSpc>
                          <a:spcPct val="100000"/>
                        </a:lnSpc>
                        <a:spcBef>
                          <a:spcPts val="0"/>
                        </a:spcBef>
                        <a:spcAft>
                          <a:spcPts val="0"/>
                        </a:spcAft>
                        <a:buClrTx/>
                        <a:buSzTx/>
                        <a:buFontTx/>
                        <a:buNone/>
                        <a:tabLst/>
                        <a:defRPr lang="en-GB"/>
                      </a:pPr>
                      <a:r>
                        <a:rPr lang="en-GB" sz="2400" dirty="0">
                          <a:solidFill>
                            <a:srgbClr val="000000"/>
                          </a:solidFill>
                          <a:latin typeface="Times New Roman" panose="02020603050405020304" pitchFamily="18" charset="0"/>
                          <a:cs typeface="Times New Roman" panose="02020603050405020304" pitchFamily="18" charset="0"/>
                        </a:rPr>
                        <a:t>4. </a:t>
                      </a:r>
                      <a:r>
                        <a:rPr lang="en-GB" sz="2400" dirty="0" err="1">
                          <a:solidFill>
                            <a:srgbClr val="000000"/>
                          </a:solidFill>
                          <a:latin typeface="Times New Roman" panose="02020603050405020304" pitchFamily="18" charset="0"/>
                          <a:cs typeface="Times New Roman" panose="02020603050405020304" pitchFamily="18" charset="0"/>
                        </a:rPr>
                        <a:t>Nguyên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nhân</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và</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giải</a:t>
                      </a:r>
                      <a:r>
                        <a:rPr lang="en-GB" sz="2400" dirty="0">
                          <a:solidFill>
                            <a:srgbClr val="000000"/>
                          </a:solidFill>
                          <a:latin typeface="Times New Roman" panose="02020603050405020304" pitchFamily="18" charset="0"/>
                          <a:cs typeface="Times New Roman" panose="02020603050405020304" pitchFamily="18" charset="0"/>
                        </a:rPr>
                        <a:t> </a:t>
                      </a:r>
                      <a:r>
                        <a:rPr lang="en-GB" sz="2400" dirty="0" err="1">
                          <a:solidFill>
                            <a:srgbClr val="000000"/>
                          </a:solidFill>
                          <a:latin typeface="Times New Roman" panose="02020603050405020304" pitchFamily="18" charset="0"/>
                          <a:cs typeface="Times New Roman" panose="02020603050405020304" pitchFamily="18" charset="0"/>
                        </a:rPr>
                        <a:t>pháp</a:t>
                      </a:r>
                      <a:endParaRPr lang="en-GB" sz="2400" dirty="0">
                        <a:solidFill>
                          <a:srgbClr val="000000"/>
                        </a:solidFill>
                        <a:latin typeface="Times New Roman" panose="02020603050405020304" pitchFamily="18" charset="0"/>
                        <a:cs typeface="Times New Roman" panose="02020603050405020304" pitchFamily="18" charset="0"/>
                      </a:endParaRPr>
                    </a:p>
                    <a:p>
                      <a:pPr marL="0" algn="r" defTabSz="914400" rtl="0" eaLnBrk="1" latinLnBrk="0" hangingPunct="1"/>
                      <a:r>
                        <a:rPr lang="en-GB" sz="2400" kern="1200" dirty="0">
                          <a:solidFill>
                            <a:srgbClr val="000000"/>
                          </a:solidFill>
                          <a:latin typeface="Times New Roman" panose="02020603050405020304" pitchFamily="18" charset="0"/>
                          <a:ea typeface="+mn-ea"/>
                          <a:cs typeface="Times New Roman" panose="02020603050405020304" pitchFamily="18" charset="0"/>
                        </a:rPr>
                        <a:t>2</a:t>
                      </a:r>
                      <a:r>
                        <a:rPr lang="en-GB" sz="2400" kern="1200">
                          <a:solidFill>
                            <a:srgbClr val="000000"/>
                          </a:solidFill>
                          <a:latin typeface="Times New Roman" panose="02020603050405020304" pitchFamily="18" charset="0"/>
                          <a:ea typeface="+mn-ea"/>
                          <a:cs typeface="Times New Roman" panose="02020603050405020304" pitchFamily="18" charset="0"/>
                        </a:rPr>
                        <a:t>0</a:t>
                      </a:r>
                      <a:endParaRPr lang="en-GB" sz="2400" kern="1200" dirty="0">
                        <a:solidFill>
                          <a:srgbClr val="000000"/>
                        </a:solidFill>
                        <a:latin typeface="Times New Roman" panose="02020603050405020304" pitchFamily="18" charset="0"/>
                        <a:ea typeface="+mn-ea"/>
                        <a:cs typeface="Times New Roman" panose="02020603050405020304" pitchFamily="18" charset="0"/>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rtlCol="0"/>
          <a:lstStyle>
            <a:defPPr>
              <a:defRPr lang="en-GB"/>
            </a:defPPr>
          </a:lstStyle>
          <a:p>
            <a:pPr rtl="0"/>
            <a:r>
              <a:rPr lang="en-US" dirty="0" err="1">
                <a:solidFill>
                  <a:srgbClr val="000000"/>
                </a:solidFill>
                <a:latin typeface="Times New Roman" panose="02020603050405020304" pitchFamily="18" charset="0"/>
                <a:cs typeface="Times New Roman" panose="02020603050405020304" pitchFamily="18" charset="0"/>
              </a:rPr>
              <a:t>Tổng</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quan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chung</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tình</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hình</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công</a:t>
            </a:r>
            <a:r>
              <a:rPr lang="en-US" dirty="0">
                <a:solidFill>
                  <a:srgbClr val="000000"/>
                </a:solidFill>
                <a:latin typeface="Times New Roman" panose="02020603050405020304" pitchFamily="18" charset="0"/>
                <a:cs typeface="Times New Roman" panose="02020603050405020304" pitchFamily="18" charset="0"/>
              </a:rPr>
              <a:t> ty</a:t>
            </a:r>
            <a:endParaRPr lang="en-GB"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023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365760" y="874077"/>
            <a:ext cx="4711920" cy="4070729"/>
          </a:xfrm>
        </p:spPr>
        <p:txBody>
          <a:bodyPr rtlCol="0">
            <a:normAutofit/>
          </a:bodyPr>
          <a:lstStyle>
            <a:defPPr>
              <a:defRPr lang="en-GB"/>
            </a:defPPr>
          </a:lstStyle>
          <a:p>
            <a:pPr rtl="0"/>
            <a:r>
              <a:rPr lang="vi-VN" sz="1600" dirty="0">
                <a:solidFill>
                  <a:srgbClr val="000000"/>
                </a:solidFill>
                <a:latin typeface="Times New Roman" panose="02020603050405020304" pitchFamily="18" charset="0"/>
                <a:cs typeface="Times New Roman" panose="02020603050405020304" pitchFamily="18" charset="0"/>
              </a:rPr>
              <a:t>Giai đoạn 2013–2014 cho thấy doanh nghiệp tăng trưởng rất mạnh về quy mô, với doanh thu tăng 253,85% và số lượng bán tăng 225,4%. Lợi nhuận cũng tăng 225%, khẳng định hoạt động kinh doanh vẫn hiệu quả trong quá trình mở rộng. Tuy nhiên, tỷ số tài chính giảm nhẹ 6,67%, cho thấy biên lợi nhuận bị thu hẹp do chi phí tăng theo quy mô. Nhìn chung, doanh nghiệp đang ưu tiên mở rộng thị phần, với tiềm năng cải thiện biên lợi nhuận trong các giai đoạn tiếp theo.</a:t>
            </a:r>
            <a:r>
              <a:rPr lang="en-GB" sz="1600" dirty="0">
                <a:solidFill>
                  <a:srgbClr val="000000"/>
                </a:solidFill>
                <a:latin typeface="Times New Roman" panose="02020603050405020304" pitchFamily="18" charset="0"/>
                <a:cs typeface="Times New Roman" panose="02020603050405020304" pitchFamily="18" charset="0"/>
              </a:rPr>
              <a:t>	</a:t>
            </a: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4</a:t>
            </a:fld>
            <a:endParaRPr lang="en-GB" dirty="0"/>
          </a:p>
        </p:txBody>
      </p:sp>
      <p:graphicFrame>
        <p:nvGraphicFramePr>
          <p:cNvPr id="12" name="Table 11">
            <a:extLst>
              <a:ext uri="{FF2B5EF4-FFF2-40B4-BE49-F238E27FC236}">
                <a16:creationId xmlns:a16="http://schemas.microsoft.com/office/drawing/2014/main" id="{098C024F-34D7-64F7-2C58-650E88D0AB99}"/>
              </a:ext>
            </a:extLst>
          </p:cNvPr>
          <p:cNvGraphicFramePr>
            <a:graphicFrameLocks noGrp="1"/>
          </p:cNvGraphicFramePr>
          <p:nvPr>
            <p:extLst>
              <p:ext uri="{D42A27DB-BD31-4B8C-83A1-F6EECF244321}">
                <p14:modId xmlns:p14="http://schemas.microsoft.com/office/powerpoint/2010/main" val="4214567788"/>
              </p:ext>
            </p:extLst>
          </p:nvPr>
        </p:nvGraphicFramePr>
        <p:xfrm>
          <a:off x="5227608" y="874077"/>
          <a:ext cx="6858000" cy="4577394"/>
        </p:xfrm>
        <a:graphic>
          <a:graphicData uri="http://schemas.openxmlformats.org/drawingml/2006/table">
            <a:tbl>
              <a:tblPr firstRow="1" bandRow="1">
                <a:tableStyleId>{073A0DAA-6AF3-43AB-8588-CEC1D06C72B9}</a:tableStyleId>
              </a:tblPr>
              <a:tblGrid>
                <a:gridCol w="1452337">
                  <a:extLst>
                    <a:ext uri="{9D8B030D-6E8A-4147-A177-3AD203B41FA5}">
                      <a16:colId xmlns:a16="http://schemas.microsoft.com/office/drawing/2014/main" val="501038897"/>
                    </a:ext>
                  </a:extLst>
                </a:gridCol>
                <a:gridCol w="810883">
                  <a:extLst>
                    <a:ext uri="{9D8B030D-6E8A-4147-A177-3AD203B41FA5}">
                      <a16:colId xmlns:a16="http://schemas.microsoft.com/office/drawing/2014/main" val="1338345402"/>
                    </a:ext>
                  </a:extLst>
                </a:gridCol>
                <a:gridCol w="733245">
                  <a:extLst>
                    <a:ext uri="{9D8B030D-6E8A-4147-A177-3AD203B41FA5}">
                      <a16:colId xmlns:a16="http://schemas.microsoft.com/office/drawing/2014/main" val="799634227"/>
                    </a:ext>
                  </a:extLst>
                </a:gridCol>
                <a:gridCol w="1791195">
                  <a:extLst>
                    <a:ext uri="{9D8B030D-6E8A-4147-A177-3AD203B41FA5}">
                      <a16:colId xmlns:a16="http://schemas.microsoft.com/office/drawing/2014/main" val="812582588"/>
                    </a:ext>
                  </a:extLst>
                </a:gridCol>
                <a:gridCol w="2070340">
                  <a:extLst>
                    <a:ext uri="{9D8B030D-6E8A-4147-A177-3AD203B41FA5}">
                      <a16:colId xmlns:a16="http://schemas.microsoft.com/office/drawing/2014/main" val="3012713200"/>
                    </a:ext>
                  </a:extLst>
                </a:gridCol>
              </a:tblGrid>
              <a:tr h="828045">
                <a:tc>
                  <a:txBody>
                    <a:bodyPr/>
                    <a:lstStyle/>
                    <a:p>
                      <a:r>
                        <a:rPr lang="en-GB" sz="1600" dirty="0" err="1">
                          <a:solidFill>
                            <a:srgbClr val="000000"/>
                          </a:solidFill>
                          <a:latin typeface="Times New Roman" panose="02020603050405020304" pitchFamily="18" charset="0"/>
                          <a:cs typeface="Times New Roman" panose="02020603050405020304" pitchFamily="18" charset="0"/>
                        </a:rPr>
                        <a:t>Chỉ</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tiêu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2013</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2014</a:t>
                      </a:r>
                    </a:p>
                  </a:txBody>
                  <a:tcPr/>
                </a:tc>
                <a:tc>
                  <a:txBody>
                    <a:bodyPr/>
                    <a:lstStyle/>
                    <a:p>
                      <a:r>
                        <a:rPr lang="nn-NO" sz="1600" dirty="0">
                          <a:solidFill>
                            <a:srgbClr val="000000"/>
                          </a:solidFill>
                          <a:latin typeface="Times New Roman" panose="02020603050405020304" pitchFamily="18" charset="0"/>
                          <a:cs typeface="Times New Roman" panose="02020603050405020304" pitchFamily="18" charset="0"/>
                        </a:rPr>
                        <a:t>Tăng trưởng 2014 so với 2013</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Chung</a:t>
                      </a:r>
                    </a:p>
                  </a:txBody>
                  <a:tcPr/>
                </a:tc>
                <a:extLst>
                  <a:ext uri="{0D108BD9-81ED-4DB2-BD59-A6C34878D82A}">
                    <a16:rowId xmlns:a16="http://schemas.microsoft.com/office/drawing/2014/main" val="2024060607"/>
                  </a:ext>
                </a:extLst>
              </a:tr>
              <a:tr h="730326">
                <a:tc>
                  <a:txBody>
                    <a:bodyPr/>
                    <a:lstStyle/>
                    <a:p>
                      <a:r>
                        <a:rPr lang="en-GB" sz="1600" dirty="0" err="1">
                          <a:solidFill>
                            <a:srgbClr val="000000"/>
                          </a:solidFill>
                          <a:latin typeface="Times New Roman" panose="02020603050405020304" pitchFamily="18" charset="0"/>
                          <a:cs typeface="Times New Roman" panose="02020603050405020304" pitchFamily="18" charset="0"/>
                        </a:rPr>
                        <a:t>Doanh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$26M</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$92M</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+253.85%</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$119M</a:t>
                      </a:r>
                    </a:p>
                  </a:txBody>
                  <a:tcPr/>
                </a:tc>
                <a:extLst>
                  <a:ext uri="{0D108BD9-81ED-4DB2-BD59-A6C34878D82A}">
                    <a16:rowId xmlns:a16="http://schemas.microsoft.com/office/drawing/2014/main" val="133351052"/>
                  </a:ext>
                </a:extLst>
              </a:tr>
              <a:tr h="730326">
                <a:tc>
                  <a:txBody>
                    <a:bodyPr/>
                    <a:lstStyle/>
                    <a:p>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$4M</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$13M</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+225%</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$17M</a:t>
                      </a:r>
                    </a:p>
                  </a:txBody>
                  <a:tcPr/>
                </a:tc>
                <a:extLst>
                  <a:ext uri="{0D108BD9-81ED-4DB2-BD59-A6C34878D82A}">
                    <a16:rowId xmlns:a16="http://schemas.microsoft.com/office/drawing/2014/main" val="3143730769"/>
                  </a:ext>
                </a:extLst>
              </a:tr>
              <a:tr h="730326">
                <a:tc>
                  <a:txBody>
                    <a:bodyPr/>
                    <a:lstStyle/>
                    <a:p>
                      <a:r>
                        <a:rPr lang="en-GB" sz="1600" dirty="0" err="1">
                          <a:solidFill>
                            <a:srgbClr val="000000"/>
                          </a:solidFill>
                          <a:latin typeface="Times New Roman" panose="02020603050405020304" pitchFamily="18" charset="0"/>
                          <a:cs typeface="Times New Roman" panose="02020603050405020304" pitchFamily="18" charset="0"/>
                        </a:rPr>
                        <a:t>Giá</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vốn</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$23M</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$79M</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+243.48%</a:t>
                      </a: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$102M</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79653448"/>
                  </a:ext>
                </a:extLst>
              </a:tr>
              <a:tr h="730326">
                <a:tc>
                  <a:txBody>
                    <a:bodyPr/>
                    <a:lstStyle/>
                    <a:p>
                      <a:r>
                        <a:rPr lang="vi-VN" sz="1600" dirty="0">
                          <a:solidFill>
                            <a:srgbClr val="000000"/>
                          </a:solidFill>
                          <a:latin typeface="Times New Roman" panose="02020603050405020304" pitchFamily="18" charset="0"/>
                          <a:cs typeface="Times New Roman" panose="02020603050405020304" pitchFamily="18" charset="0"/>
                        </a:rPr>
                        <a:t>Số lượng bán</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264K</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861K</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+225.4%</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1.13M</a:t>
                      </a:r>
                    </a:p>
                  </a:txBody>
                  <a:tcPr/>
                </a:tc>
                <a:extLst>
                  <a:ext uri="{0D108BD9-81ED-4DB2-BD59-A6C34878D82A}">
                    <a16:rowId xmlns:a16="http://schemas.microsoft.com/office/drawing/2014/main" val="3548321167"/>
                  </a:ext>
                </a:extLst>
              </a:tr>
              <a:tr h="828045">
                <a:tc>
                  <a:txBody>
                    <a:bodyPr/>
                    <a:lstStyle/>
                    <a:p>
                      <a:r>
                        <a:rPr lang="en-GB" sz="1600" dirty="0" err="1">
                          <a:solidFill>
                            <a:srgbClr val="000000"/>
                          </a:solidFill>
                          <a:latin typeface="Times New Roman" panose="02020603050405020304" pitchFamily="18" charset="0"/>
                          <a:cs typeface="Times New Roman" panose="02020603050405020304" pitchFamily="18" charset="0"/>
                        </a:rPr>
                        <a:t>Tỷ</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số</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tài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chính</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15%</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14%</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-6.67%</a:t>
                      </a: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14%</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8683024"/>
                  </a:ext>
                </a:extLst>
              </a:tr>
            </a:tbl>
          </a:graphicData>
        </a:graphic>
      </p:graphicFrame>
      <p:sp>
        <p:nvSpPr>
          <p:cNvPr id="14" name="TextBox 13">
            <a:extLst>
              <a:ext uri="{FF2B5EF4-FFF2-40B4-BE49-F238E27FC236}">
                <a16:creationId xmlns:a16="http://schemas.microsoft.com/office/drawing/2014/main" id="{F7150068-8732-D00C-45D9-D6CE62C95A59}"/>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1.Tổng </a:t>
            </a:r>
            <a:r>
              <a:rPr lang="en-US" b="1" dirty="0" err="1">
                <a:solidFill>
                  <a:srgbClr val="000000"/>
                </a:solidFill>
                <a:latin typeface="Times New Roman" panose="02020603050405020304" pitchFamily="18" charset="0"/>
                <a:cs typeface="Times New Roman" panose="02020603050405020304" pitchFamily="18" charset="0"/>
              </a:rPr>
              <a:t>quan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về</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tăng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trưởng</a:t>
            </a:r>
            <a:r>
              <a:rPr lang="en-US" b="1" dirty="0">
                <a:solidFill>
                  <a:srgbClr val="000000"/>
                </a:solidFill>
                <a:latin typeface="Times New Roman" panose="02020603050405020304" pitchFamily="18" charset="0"/>
                <a:cs typeface="Times New Roman" panose="02020603050405020304" pitchFamily="18" charset="0"/>
              </a:rPr>
              <a:t> </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507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365760" y="707883"/>
            <a:ext cx="5936872" cy="4070729"/>
          </a:xfrm>
        </p:spPr>
        <p:txBody>
          <a:bodyPr rtlCol="0">
            <a:noAutofit/>
          </a:bodyPr>
          <a:lstStyle>
            <a:defPPr>
              <a:defRPr lang="en-GB"/>
            </a:defPPr>
          </a:lstStyle>
          <a:p>
            <a:r>
              <a:rPr lang="vi-VN" sz="1600" dirty="0">
                <a:solidFill>
                  <a:srgbClr val="000000"/>
                </a:solidFill>
                <a:latin typeface="Times New Roman" panose="02020603050405020304" pitchFamily="18" charset="0"/>
                <a:cs typeface="Times New Roman" panose="02020603050405020304" pitchFamily="18" charset="0"/>
              </a:rPr>
              <a:t>Năm 2014 chứng kiến một sự bùng nổ mạnh mẽ về quy mô so với 2013:</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Doanh thu:</a:t>
            </a:r>
            <a:r>
              <a:rPr lang="vi-VN" sz="1600" dirty="0">
                <a:solidFill>
                  <a:srgbClr val="000000"/>
                </a:solidFill>
                <a:latin typeface="Times New Roman" panose="02020603050405020304" pitchFamily="18" charset="0"/>
                <a:cs typeface="Times New Roman" panose="02020603050405020304" pitchFamily="18" charset="0"/>
              </a:rPr>
              <a:t> Tăng từ </a:t>
            </a:r>
            <a:r>
              <a:rPr lang="vi-VN" sz="1600" b="1" dirty="0">
                <a:solidFill>
                  <a:srgbClr val="000000"/>
                </a:solidFill>
                <a:latin typeface="Times New Roman" panose="02020603050405020304" pitchFamily="18" charset="0"/>
                <a:cs typeface="Times New Roman" panose="02020603050405020304" pitchFamily="18" charset="0"/>
              </a:rPr>
              <a:t>26,4 triệu</a:t>
            </a:r>
            <a:r>
              <a:rPr lang="vi-VN" sz="1600" dirty="0">
                <a:solidFill>
                  <a:srgbClr val="000000"/>
                </a:solidFill>
                <a:latin typeface="Times New Roman" panose="02020603050405020304" pitchFamily="18" charset="0"/>
                <a:cs typeface="Times New Roman" panose="02020603050405020304" pitchFamily="18" charset="0"/>
              </a:rPr>
              <a:t> lên </a:t>
            </a:r>
            <a:r>
              <a:rPr lang="vi-VN" sz="1600" b="1" dirty="0">
                <a:solidFill>
                  <a:srgbClr val="000000"/>
                </a:solidFill>
                <a:latin typeface="Times New Roman" panose="02020603050405020304" pitchFamily="18" charset="0"/>
                <a:cs typeface="Times New Roman" panose="02020603050405020304" pitchFamily="18" charset="0"/>
              </a:rPr>
              <a:t>92,3 triệu</a:t>
            </a:r>
            <a:r>
              <a:rPr lang="vi-VN" sz="1600" dirty="0">
                <a:solidFill>
                  <a:srgbClr val="000000"/>
                </a:solidFill>
                <a:latin typeface="Times New Roman" panose="02020603050405020304" pitchFamily="18" charset="0"/>
                <a:cs typeface="Times New Roman" panose="02020603050405020304" pitchFamily="18" charset="0"/>
              </a:rPr>
              <a:t> (Gấp khoảng </a:t>
            </a:r>
            <a:r>
              <a:rPr lang="vi-VN" sz="1600" b="1" dirty="0">
                <a:solidFill>
                  <a:srgbClr val="000000"/>
                </a:solidFill>
                <a:latin typeface="Times New Roman" panose="02020603050405020304" pitchFamily="18" charset="0"/>
                <a:cs typeface="Times New Roman" panose="02020603050405020304" pitchFamily="18" charset="0"/>
              </a:rPr>
              <a:t>3,5 lần</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Số lượng bán ra:</a:t>
            </a:r>
            <a:r>
              <a:rPr lang="vi-VN" sz="1600" dirty="0">
                <a:solidFill>
                  <a:srgbClr val="000000"/>
                </a:solidFill>
                <a:latin typeface="Times New Roman" panose="02020603050405020304" pitchFamily="18" charset="0"/>
                <a:cs typeface="Times New Roman" panose="02020603050405020304" pitchFamily="18" charset="0"/>
              </a:rPr>
              <a:t> Tăng từ </a:t>
            </a:r>
            <a:r>
              <a:rPr lang="vi-VN" sz="1600" b="1" dirty="0">
                <a:solidFill>
                  <a:srgbClr val="000000"/>
                </a:solidFill>
                <a:latin typeface="Times New Roman" panose="02020603050405020304" pitchFamily="18" charset="0"/>
                <a:cs typeface="Times New Roman" panose="02020603050405020304" pitchFamily="18" charset="0"/>
              </a:rPr>
              <a:t>264,6 nghìn</a:t>
            </a:r>
            <a:r>
              <a:rPr lang="vi-VN" sz="1600" dirty="0">
                <a:solidFill>
                  <a:srgbClr val="000000"/>
                </a:solidFill>
                <a:latin typeface="Times New Roman" panose="02020603050405020304" pitchFamily="18" charset="0"/>
                <a:cs typeface="Times New Roman" panose="02020603050405020304" pitchFamily="18" charset="0"/>
              </a:rPr>
              <a:t> lên </a:t>
            </a:r>
            <a:r>
              <a:rPr lang="vi-VN" sz="1600" b="1" dirty="0">
                <a:solidFill>
                  <a:srgbClr val="000000"/>
                </a:solidFill>
                <a:latin typeface="Times New Roman" panose="02020603050405020304" pitchFamily="18" charset="0"/>
                <a:cs typeface="Times New Roman" panose="02020603050405020304" pitchFamily="18" charset="0"/>
              </a:rPr>
              <a:t>861,1 nghìn</a:t>
            </a:r>
            <a:r>
              <a:rPr lang="vi-VN" sz="1600" dirty="0">
                <a:solidFill>
                  <a:srgbClr val="000000"/>
                </a:solidFill>
                <a:latin typeface="Times New Roman" panose="02020603050405020304" pitchFamily="18" charset="0"/>
                <a:cs typeface="Times New Roman" panose="02020603050405020304" pitchFamily="18" charset="0"/>
              </a:rPr>
              <a:t> (Gấp khoảng </a:t>
            </a:r>
            <a:r>
              <a:rPr lang="vi-VN" sz="1600" b="1" dirty="0">
                <a:solidFill>
                  <a:srgbClr val="000000"/>
                </a:solidFill>
                <a:latin typeface="Times New Roman" panose="02020603050405020304" pitchFamily="18" charset="0"/>
                <a:cs typeface="Times New Roman" panose="02020603050405020304" pitchFamily="18" charset="0"/>
              </a:rPr>
              <a:t>3,2 lần</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Giá vốn hàng hóa (COGS):</a:t>
            </a:r>
            <a:r>
              <a:rPr lang="vi-VN" sz="1600" dirty="0">
                <a:solidFill>
                  <a:srgbClr val="000000"/>
                </a:solidFill>
                <a:latin typeface="Times New Roman" panose="02020603050405020304" pitchFamily="18" charset="0"/>
                <a:cs typeface="Times New Roman" panose="02020603050405020304" pitchFamily="18" charset="0"/>
              </a:rPr>
              <a:t> Tăng từ </a:t>
            </a:r>
            <a:r>
              <a:rPr lang="vi-VN" sz="1600" b="1" dirty="0">
                <a:solidFill>
                  <a:srgbClr val="000000"/>
                </a:solidFill>
                <a:latin typeface="Times New Roman" panose="02020603050405020304" pitchFamily="18" charset="0"/>
                <a:cs typeface="Times New Roman" panose="02020603050405020304" pitchFamily="18" charset="0"/>
              </a:rPr>
              <a:t>22,5 triệu</a:t>
            </a:r>
            <a:r>
              <a:rPr lang="vi-VN" sz="1600" dirty="0">
                <a:solidFill>
                  <a:srgbClr val="000000"/>
                </a:solidFill>
                <a:latin typeface="Times New Roman" panose="02020603050405020304" pitchFamily="18" charset="0"/>
                <a:cs typeface="Times New Roman" panose="02020603050405020304" pitchFamily="18" charset="0"/>
              </a:rPr>
              <a:t> lên </a:t>
            </a:r>
            <a:r>
              <a:rPr lang="vi-VN" sz="1600" b="1" dirty="0">
                <a:solidFill>
                  <a:srgbClr val="000000"/>
                </a:solidFill>
                <a:latin typeface="Times New Roman" panose="02020603050405020304" pitchFamily="18" charset="0"/>
                <a:cs typeface="Times New Roman" panose="02020603050405020304" pitchFamily="18" charset="0"/>
              </a:rPr>
              <a:t>79,3 triệu</a:t>
            </a:r>
            <a:r>
              <a:rPr lang="vi-VN" sz="1600" dirty="0">
                <a:solidFill>
                  <a:srgbClr val="000000"/>
                </a:solidFill>
                <a:latin typeface="Times New Roman" panose="02020603050405020304" pitchFamily="18" charset="0"/>
                <a:cs typeface="Times New Roman" panose="02020603050405020304" pitchFamily="18" charset="0"/>
              </a:rPr>
              <a:t> (Gấp khoảng </a:t>
            </a:r>
            <a:r>
              <a:rPr lang="vi-VN" sz="1600" b="1" dirty="0">
                <a:solidFill>
                  <a:srgbClr val="000000"/>
                </a:solidFill>
                <a:latin typeface="Times New Roman" panose="02020603050405020304" pitchFamily="18" charset="0"/>
                <a:cs typeface="Times New Roman" panose="02020603050405020304" pitchFamily="18" charset="0"/>
              </a:rPr>
              <a:t>3,5 lần</a:t>
            </a:r>
            <a:r>
              <a:rPr lang="vi-VN" sz="1600" dirty="0">
                <a:solidFill>
                  <a:srgbClr val="000000"/>
                </a:solidFill>
                <a:latin typeface="Times New Roman" panose="02020603050405020304" pitchFamily="18" charset="0"/>
                <a:cs typeface="Times New Roman" panose="02020603050405020304" pitchFamily="18" charset="0"/>
              </a:rPr>
              <a:t>).</a:t>
            </a:r>
          </a:p>
          <a:p>
            <a:r>
              <a:rPr lang="vi-VN" sz="1600" b="1" dirty="0">
                <a:solidFill>
                  <a:srgbClr val="000000"/>
                </a:solidFill>
                <a:latin typeface="Times New Roman" panose="02020603050405020304" pitchFamily="18" charset="0"/>
                <a:cs typeface="Times New Roman" panose="02020603050405020304" pitchFamily="18" charset="0"/>
              </a:rPr>
              <a:t>Năm 2013: Germany dẫn đầu doanh thu</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Germany</a:t>
            </a:r>
            <a:r>
              <a:rPr lang="vi-VN" sz="1600" dirty="0">
                <a:solidFill>
                  <a:srgbClr val="000000"/>
                </a:solidFill>
                <a:latin typeface="Times New Roman" panose="02020603050405020304" pitchFamily="18" charset="0"/>
                <a:cs typeface="Times New Roman" panose="02020603050405020304" pitchFamily="18" charset="0"/>
              </a:rPr>
              <a:t> là thị trường quan trọng nhất về doanh thu (6,2 triệu) dù số lượng bán ra không phải cao nhất (Canada bán nhiều nhất với 62k đơn vị). Điều này cho thấy giá bán trung bình tại Đức năm 2013 cao hơn các nước khác.</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Mexico</a:t>
            </a:r>
            <a:r>
              <a:rPr lang="vi-VN" sz="1600" dirty="0">
                <a:solidFill>
                  <a:srgbClr val="000000"/>
                </a:solidFill>
                <a:latin typeface="Times New Roman" panose="02020603050405020304" pitchFamily="18" charset="0"/>
                <a:cs typeface="Times New Roman" panose="02020603050405020304" pitchFamily="18" charset="0"/>
              </a:rPr>
              <a:t> có doanh thu thấp nhất (4,7 triệu) và giá vốn cũng thấp nhất.</a:t>
            </a:r>
          </a:p>
          <a:p>
            <a:r>
              <a:rPr lang="vi-VN" sz="1600" b="1" dirty="0">
                <a:solidFill>
                  <a:srgbClr val="000000"/>
                </a:solidFill>
                <a:latin typeface="Times New Roman" panose="02020603050405020304" pitchFamily="18" charset="0"/>
                <a:cs typeface="Times New Roman" panose="02020603050405020304" pitchFamily="18" charset="0"/>
              </a:rPr>
              <a:t>Năm 2014: Sự trỗi dậy của USA và Canada</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USA</a:t>
            </a:r>
            <a:r>
              <a:rPr lang="vi-VN" sz="1600" dirty="0">
                <a:solidFill>
                  <a:srgbClr val="000000"/>
                </a:solidFill>
                <a:latin typeface="Times New Roman" panose="02020603050405020304" pitchFamily="18" charset="0"/>
                <a:cs typeface="Times New Roman" panose="02020603050405020304" pitchFamily="18" charset="0"/>
              </a:rPr>
              <a:t> từ vị trí gần áp chót năm 2013 đã vươn lên dẫn đầu doanh thu năm 2014 với </a:t>
            </a:r>
            <a:r>
              <a:rPr lang="vi-VN" sz="1600" b="1" dirty="0">
                <a:solidFill>
                  <a:srgbClr val="000000"/>
                </a:solidFill>
                <a:latin typeface="Times New Roman" panose="02020603050405020304" pitchFamily="18" charset="0"/>
                <a:cs typeface="Times New Roman" panose="02020603050405020304" pitchFamily="18" charset="0"/>
              </a:rPr>
              <a:t>19,9 triệu</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Canada</a:t>
            </a:r>
            <a:r>
              <a:rPr lang="vi-VN" sz="1600" dirty="0">
                <a:solidFill>
                  <a:srgbClr val="000000"/>
                </a:solidFill>
                <a:latin typeface="Times New Roman" panose="02020603050405020304" pitchFamily="18" charset="0"/>
                <a:cs typeface="Times New Roman" panose="02020603050405020304" pitchFamily="18" charset="0"/>
              </a:rPr>
              <a:t> duy trì phong độ ổn định, bám sát USA với </a:t>
            </a:r>
            <a:r>
              <a:rPr lang="vi-VN" sz="1600" b="1" dirty="0">
                <a:solidFill>
                  <a:srgbClr val="000000"/>
                </a:solidFill>
                <a:latin typeface="Times New Roman" panose="02020603050405020304" pitchFamily="18" charset="0"/>
                <a:cs typeface="Times New Roman" panose="02020603050405020304" pitchFamily="18" charset="0"/>
              </a:rPr>
              <a:t>19,7 triệu</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Germany</a:t>
            </a:r>
            <a:r>
              <a:rPr lang="vi-VN" sz="1600" dirty="0">
                <a:solidFill>
                  <a:srgbClr val="000000"/>
                </a:solidFill>
                <a:latin typeface="Times New Roman" panose="02020603050405020304" pitchFamily="18" charset="0"/>
                <a:cs typeface="Times New Roman" panose="02020603050405020304" pitchFamily="18" charset="0"/>
              </a:rPr>
              <a:t> mặc dù vẫn tăng trưởng nhưng đã tụt xuống vị trí thứ 4 về doanh thu.</a:t>
            </a:r>
          </a:p>
          <a:p>
            <a:pPr rtl="0"/>
            <a:endParaRPr lang="en-GB" sz="1600" dirty="0">
              <a:solidFill>
                <a:srgbClr val="000000"/>
              </a:solidFill>
              <a:latin typeface="+mj-lt"/>
            </a:endParaRP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5</a:t>
            </a:fld>
            <a:endParaRPr lang="en-GB" dirty="0"/>
          </a:p>
        </p:txBody>
      </p:sp>
      <p:pic>
        <p:nvPicPr>
          <p:cNvPr id="6" name="Picture 5">
            <a:extLst>
              <a:ext uri="{FF2B5EF4-FFF2-40B4-BE49-F238E27FC236}">
                <a16:creationId xmlns:a16="http://schemas.microsoft.com/office/drawing/2014/main" id="{46847242-E6F7-BBC0-5673-B2509C2C5702}"/>
              </a:ext>
            </a:extLst>
          </p:cNvPr>
          <p:cNvPicPr>
            <a:picLocks noChangeAspect="1"/>
          </p:cNvPicPr>
          <p:nvPr/>
        </p:nvPicPr>
        <p:blipFill>
          <a:blip r:embed="rId3"/>
          <a:stretch>
            <a:fillRect/>
          </a:stretch>
        </p:blipFill>
        <p:spPr>
          <a:xfrm>
            <a:off x="6667059" y="2898686"/>
            <a:ext cx="5434334" cy="1940312"/>
          </a:xfrm>
          <a:prstGeom prst="rect">
            <a:avLst/>
          </a:prstGeom>
        </p:spPr>
      </p:pic>
      <p:pic>
        <p:nvPicPr>
          <p:cNvPr id="8" name="Picture 7">
            <a:extLst>
              <a:ext uri="{FF2B5EF4-FFF2-40B4-BE49-F238E27FC236}">
                <a16:creationId xmlns:a16="http://schemas.microsoft.com/office/drawing/2014/main" id="{F334F3EF-045F-8C80-C61E-01D5F54F19A7}"/>
              </a:ext>
            </a:extLst>
          </p:cNvPr>
          <p:cNvPicPr>
            <a:picLocks noChangeAspect="1"/>
          </p:cNvPicPr>
          <p:nvPr/>
        </p:nvPicPr>
        <p:blipFill>
          <a:blip r:embed="rId4"/>
          <a:stretch>
            <a:fillRect/>
          </a:stretch>
        </p:blipFill>
        <p:spPr>
          <a:xfrm>
            <a:off x="6667059" y="707883"/>
            <a:ext cx="5434334" cy="1940313"/>
          </a:xfrm>
          <a:prstGeom prst="rect">
            <a:avLst/>
          </a:prstGeom>
        </p:spPr>
      </p:pic>
      <p:sp>
        <p:nvSpPr>
          <p:cNvPr id="11" name="TextBox 10">
            <a:extLst>
              <a:ext uri="{FF2B5EF4-FFF2-40B4-BE49-F238E27FC236}">
                <a16:creationId xmlns:a16="http://schemas.microsoft.com/office/drawing/2014/main" id="{E16D2300-4CEC-D13C-1C58-6C853B8C4124}"/>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2.Tổng </a:t>
            </a:r>
            <a:r>
              <a:rPr lang="en-US" b="1" dirty="0" err="1">
                <a:solidFill>
                  <a:srgbClr val="000000"/>
                </a:solidFill>
                <a:latin typeface="Times New Roman" panose="02020603050405020304" pitchFamily="18" charset="0"/>
                <a:cs typeface="Times New Roman" panose="02020603050405020304" pitchFamily="18" charset="0"/>
              </a:rPr>
              <a:t>quan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về</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tăng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trưởng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theo</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từng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quốc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gia</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629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365760" y="822242"/>
            <a:ext cx="5936872" cy="4070729"/>
          </a:xfrm>
        </p:spPr>
        <p:txBody>
          <a:bodyPr rtlCol="0">
            <a:normAutofit/>
          </a:bodyPr>
          <a:lstStyle>
            <a:defPPr>
              <a:defRPr lang="en-GB"/>
            </a:defPPr>
          </a:lstStyle>
          <a:p>
            <a:pPr rtl="0"/>
            <a:r>
              <a:rPr lang="vi-VN" sz="1600" b="1" dirty="0">
                <a:solidFill>
                  <a:srgbClr val="000000"/>
                </a:solidFill>
                <a:latin typeface="Times New Roman" panose="02020603050405020304" pitchFamily="18" charset="0"/>
                <a:cs typeface="Times New Roman" panose="02020603050405020304" pitchFamily="18" charset="0"/>
              </a:rPr>
              <a:t>Nhận xét:</a:t>
            </a:r>
            <a:r>
              <a:rPr lang="vi-VN" sz="1600" dirty="0">
                <a:solidFill>
                  <a:srgbClr val="000000"/>
                </a:solidFill>
                <a:latin typeface="Times New Roman" panose="02020603050405020304" pitchFamily="18" charset="0"/>
                <a:cs typeface="Times New Roman" panose="02020603050405020304" pitchFamily="18" charset="0"/>
              </a:rPr>
              <a:t> Dù USA dẫn đầu về doanh thu năm 2014, nhưng </a:t>
            </a:r>
            <a:r>
              <a:rPr lang="vi-VN" sz="1600" b="1" dirty="0">
                <a:solidFill>
                  <a:srgbClr val="000000"/>
                </a:solidFill>
                <a:latin typeface="Times New Roman" panose="02020603050405020304" pitchFamily="18" charset="0"/>
                <a:cs typeface="Times New Roman" panose="02020603050405020304" pitchFamily="18" charset="0"/>
              </a:rPr>
              <a:t>France</a:t>
            </a:r>
            <a:r>
              <a:rPr lang="vi-VN" sz="1600" dirty="0">
                <a:solidFill>
                  <a:srgbClr val="000000"/>
                </a:solidFill>
                <a:latin typeface="Times New Roman" panose="02020603050405020304" pitchFamily="18" charset="0"/>
                <a:cs typeface="Times New Roman" panose="02020603050405020304" pitchFamily="18" charset="0"/>
              </a:rPr>
              <a:t> và </a:t>
            </a:r>
            <a:r>
              <a:rPr lang="vi-VN" sz="1600" b="1" dirty="0">
                <a:solidFill>
                  <a:srgbClr val="000000"/>
                </a:solidFill>
                <a:latin typeface="Times New Roman" panose="02020603050405020304" pitchFamily="18" charset="0"/>
                <a:cs typeface="Times New Roman" panose="02020603050405020304" pitchFamily="18" charset="0"/>
              </a:rPr>
              <a:t>Canada</a:t>
            </a:r>
            <a:r>
              <a:rPr lang="vi-VN" sz="1600" dirty="0">
                <a:solidFill>
                  <a:srgbClr val="000000"/>
                </a:solidFill>
                <a:latin typeface="Times New Roman" panose="02020603050405020304" pitchFamily="18" charset="0"/>
                <a:cs typeface="Times New Roman" panose="02020603050405020304" pitchFamily="18" charset="0"/>
              </a:rPr>
              <a:t> lại là những thị trường đem lại con số lợi nhuận gộp ấn tượng nhất. USA có mức tăng trưởng lợi nhuận đột biến nhất (hơn 300%) cho thấy chiến lược mở rộng tại thị trường này trong năm 2014 rất hiệu quả.</a:t>
            </a:r>
            <a:endParaRPr lang="en-GB" sz="1600" dirty="0">
              <a:solidFill>
                <a:srgbClr val="00000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6</a:t>
            </a:fld>
            <a:endParaRPr lang="en-GB" dirty="0"/>
          </a:p>
        </p:txBody>
      </p:sp>
      <p:graphicFrame>
        <p:nvGraphicFramePr>
          <p:cNvPr id="9" name="Table 8">
            <a:extLst>
              <a:ext uri="{FF2B5EF4-FFF2-40B4-BE49-F238E27FC236}">
                <a16:creationId xmlns:a16="http://schemas.microsoft.com/office/drawing/2014/main" id="{4EF4113F-47B7-7B89-56C1-27822B80055C}"/>
              </a:ext>
            </a:extLst>
          </p:cNvPr>
          <p:cNvGraphicFramePr>
            <a:graphicFrameLocks noGrp="1"/>
          </p:cNvGraphicFramePr>
          <p:nvPr>
            <p:extLst>
              <p:ext uri="{D42A27DB-BD31-4B8C-83A1-F6EECF244321}">
                <p14:modId xmlns:p14="http://schemas.microsoft.com/office/powerpoint/2010/main" val="184717855"/>
              </p:ext>
            </p:extLst>
          </p:nvPr>
        </p:nvGraphicFramePr>
        <p:xfrm>
          <a:off x="6302632" y="822242"/>
          <a:ext cx="5712583" cy="4629231"/>
        </p:xfrm>
        <a:graphic>
          <a:graphicData uri="http://schemas.openxmlformats.org/drawingml/2006/table">
            <a:tbl>
              <a:tblPr firstRow="1" bandRow="1">
                <a:tableStyleId>{073A0DAA-6AF3-43AB-8588-CEC1D06C72B9}</a:tableStyleId>
              </a:tblPr>
              <a:tblGrid>
                <a:gridCol w="1407652">
                  <a:extLst>
                    <a:ext uri="{9D8B030D-6E8A-4147-A177-3AD203B41FA5}">
                      <a16:colId xmlns:a16="http://schemas.microsoft.com/office/drawing/2014/main" val="1904573840"/>
                    </a:ext>
                  </a:extLst>
                </a:gridCol>
                <a:gridCol w="1407652">
                  <a:extLst>
                    <a:ext uri="{9D8B030D-6E8A-4147-A177-3AD203B41FA5}">
                      <a16:colId xmlns:a16="http://schemas.microsoft.com/office/drawing/2014/main" val="3552763100"/>
                    </a:ext>
                  </a:extLst>
                </a:gridCol>
                <a:gridCol w="1407652">
                  <a:extLst>
                    <a:ext uri="{9D8B030D-6E8A-4147-A177-3AD203B41FA5}">
                      <a16:colId xmlns:a16="http://schemas.microsoft.com/office/drawing/2014/main" val="2722902452"/>
                    </a:ext>
                  </a:extLst>
                </a:gridCol>
                <a:gridCol w="1489627">
                  <a:extLst>
                    <a:ext uri="{9D8B030D-6E8A-4147-A177-3AD203B41FA5}">
                      <a16:colId xmlns:a16="http://schemas.microsoft.com/office/drawing/2014/main" val="843552668"/>
                    </a:ext>
                  </a:extLst>
                </a:gridCol>
              </a:tblGrid>
              <a:tr h="764781">
                <a:tc>
                  <a:txBody>
                    <a:bodyPr/>
                    <a:lstStyle/>
                    <a:p>
                      <a:r>
                        <a:rPr lang="en-GB" sz="1600" dirty="0" err="1">
                          <a:solidFill>
                            <a:srgbClr val="000000"/>
                          </a:solidFill>
                          <a:latin typeface="Times New Roman" panose="02020603050405020304" pitchFamily="18" charset="0"/>
                          <a:cs typeface="Times New Roman" panose="02020603050405020304" pitchFamily="18" charset="0"/>
                        </a:rPr>
                        <a:t>Quốc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gia</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 2013</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 2014</a:t>
                      </a:r>
                    </a:p>
                  </a:txBody>
                  <a:tcPr/>
                </a:tc>
                <a:tc>
                  <a:txBody>
                    <a:bodyPr/>
                    <a:lstStyle/>
                    <a:p>
                      <a:r>
                        <a:rPr lang="vi-VN" sz="1600" dirty="0">
                          <a:solidFill>
                            <a:srgbClr val="000000"/>
                          </a:solidFill>
                          <a:latin typeface="Times New Roman" panose="02020603050405020304" pitchFamily="18" charset="0"/>
                          <a:cs typeface="Times New Roman" panose="02020603050405020304" pitchFamily="18" charset="0"/>
                        </a:rPr>
                        <a:t>Mức tăng trưởng </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4289324"/>
                  </a:ext>
                </a:extLst>
              </a:tr>
              <a:tr h="772890">
                <a:tc>
                  <a:txBody>
                    <a:bodyPr/>
                    <a:lstStyle/>
                    <a:p>
                      <a:r>
                        <a:rPr lang="en-GB" sz="1600" dirty="0">
                          <a:solidFill>
                            <a:srgbClr val="000000"/>
                          </a:solidFill>
                          <a:latin typeface="Times New Roman" panose="02020603050405020304" pitchFamily="18" charset="0"/>
                          <a:cs typeface="Times New Roman" panose="02020603050405020304" pitchFamily="18" charset="0"/>
                        </a:rPr>
                        <a:t>Germany</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~1,12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~2,56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+128%</a:t>
                      </a:r>
                    </a:p>
                  </a:txBody>
                  <a:tcPr/>
                </a:tc>
                <a:extLst>
                  <a:ext uri="{0D108BD9-81ED-4DB2-BD59-A6C34878D82A}">
                    <a16:rowId xmlns:a16="http://schemas.microsoft.com/office/drawing/2014/main" val="1507657235"/>
                  </a:ext>
                </a:extLst>
              </a:tr>
              <a:tr h="772890">
                <a:tc>
                  <a:txBody>
                    <a:bodyPr/>
                    <a:lstStyle/>
                    <a:p>
                      <a:r>
                        <a:rPr lang="en-GB" sz="1600" dirty="0">
                          <a:solidFill>
                            <a:srgbClr val="000000"/>
                          </a:solidFill>
                          <a:latin typeface="Times New Roman" panose="02020603050405020304" pitchFamily="18" charset="0"/>
                          <a:cs typeface="Times New Roman" panose="02020603050405020304" pitchFamily="18" charset="0"/>
                        </a:rPr>
                        <a:t>Canada</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~0,80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~2,73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+241%</a:t>
                      </a:r>
                    </a:p>
                  </a:txBody>
                  <a:tcPr/>
                </a:tc>
                <a:extLst>
                  <a:ext uri="{0D108BD9-81ED-4DB2-BD59-A6C34878D82A}">
                    <a16:rowId xmlns:a16="http://schemas.microsoft.com/office/drawing/2014/main" val="3143352885"/>
                  </a:ext>
                </a:extLst>
              </a:tr>
              <a:tr h="772890">
                <a:tc>
                  <a:txBody>
                    <a:bodyPr/>
                    <a:lstStyle/>
                    <a:p>
                      <a:r>
                        <a:rPr lang="en-GB" sz="1600" dirty="0">
                          <a:solidFill>
                            <a:srgbClr val="000000"/>
                          </a:solidFill>
                          <a:latin typeface="Times New Roman" panose="02020603050405020304" pitchFamily="18" charset="0"/>
                          <a:cs typeface="Times New Roman" panose="02020603050405020304" pitchFamily="18" charset="0"/>
                        </a:rPr>
                        <a:t>France</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~0,81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~2,97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+266%</a:t>
                      </a:r>
                    </a:p>
                  </a:txBody>
                  <a:tcPr/>
                </a:tc>
                <a:extLst>
                  <a:ext uri="{0D108BD9-81ED-4DB2-BD59-A6C34878D82A}">
                    <a16:rowId xmlns:a16="http://schemas.microsoft.com/office/drawing/2014/main" val="250570491"/>
                  </a:ext>
                </a:extLst>
              </a:tr>
              <a:tr h="772890">
                <a:tc>
                  <a:txBody>
                    <a:bodyPr/>
                    <a:lstStyle/>
                    <a:p>
                      <a:r>
                        <a:rPr lang="en-GB" sz="1600" dirty="0">
                          <a:solidFill>
                            <a:srgbClr val="000000"/>
                          </a:solidFill>
                          <a:latin typeface="Times New Roman" panose="02020603050405020304" pitchFamily="18" charset="0"/>
                          <a:cs typeface="Times New Roman" panose="02020603050405020304" pitchFamily="18" charset="0"/>
                        </a:rPr>
                        <a:t>USA</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~0,55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~2,44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+343%</a:t>
                      </a:r>
                    </a:p>
                  </a:txBody>
                  <a:tcPr/>
                </a:tc>
                <a:extLst>
                  <a:ext uri="{0D108BD9-81ED-4DB2-BD59-A6C34878D82A}">
                    <a16:rowId xmlns:a16="http://schemas.microsoft.com/office/drawing/2014/main" val="3507596161"/>
                  </a:ext>
                </a:extLst>
              </a:tr>
              <a:tr h="772890">
                <a:tc>
                  <a:txBody>
                    <a:bodyPr/>
                    <a:lstStyle/>
                    <a:p>
                      <a:r>
                        <a:rPr lang="en-GB" sz="1600" dirty="0">
                          <a:solidFill>
                            <a:srgbClr val="000000"/>
                          </a:solidFill>
                          <a:latin typeface="Times New Roman" panose="02020603050405020304" pitchFamily="18" charset="0"/>
                          <a:cs typeface="Times New Roman" panose="02020603050405020304" pitchFamily="18" charset="0"/>
                        </a:rPr>
                        <a:t>Mexico</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~0,59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~2,31 </a:t>
                      </a:r>
                      <a:r>
                        <a:rPr lang="en-GB" sz="1600" dirty="0" err="1">
                          <a:solidFill>
                            <a:srgbClr val="000000"/>
                          </a:solidFill>
                          <a:latin typeface="Times New Roman" panose="02020603050405020304" pitchFamily="18" charset="0"/>
                          <a:cs typeface="Times New Roman" panose="02020603050405020304" pitchFamily="18" charset="0"/>
                        </a:rPr>
                        <a:t>triệu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+291%</a:t>
                      </a:r>
                    </a:p>
                  </a:txBody>
                  <a:tcPr/>
                </a:tc>
                <a:extLst>
                  <a:ext uri="{0D108BD9-81ED-4DB2-BD59-A6C34878D82A}">
                    <a16:rowId xmlns:a16="http://schemas.microsoft.com/office/drawing/2014/main" val="1392253140"/>
                  </a:ext>
                </a:extLst>
              </a:tr>
            </a:tbl>
          </a:graphicData>
        </a:graphic>
      </p:graphicFrame>
    </p:spTree>
    <p:extLst>
      <p:ext uri="{BB962C8B-B14F-4D97-AF65-F5344CB8AC3E}">
        <p14:creationId xmlns:p14="http://schemas.microsoft.com/office/powerpoint/2010/main" val="349335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403542" y="609229"/>
            <a:ext cx="6670119" cy="4925682"/>
          </a:xfrm>
        </p:spPr>
        <p:txBody>
          <a:bodyPr rtlCol="0">
            <a:noAutofit/>
          </a:bodyPr>
          <a:lstStyle>
            <a:defPPr>
              <a:defRPr lang="en-GB"/>
            </a:defPPr>
          </a:lstStyle>
          <a:p>
            <a:r>
              <a:rPr lang="vi-VN" sz="1600" dirty="0">
                <a:solidFill>
                  <a:srgbClr val="000000"/>
                </a:solidFill>
                <a:latin typeface="Times New Roman" panose="02020603050405020304" pitchFamily="18" charset="0"/>
                <a:cs typeface="Times New Roman" panose="02020603050405020304" pitchFamily="18" charset="0"/>
              </a:rPr>
              <a:t>Nhìn chung, tỷ số tài chính của các quốc gia có xu hướng </a:t>
            </a:r>
            <a:r>
              <a:rPr lang="vi-VN" sz="1600" b="1" dirty="0">
                <a:solidFill>
                  <a:srgbClr val="000000"/>
                </a:solidFill>
                <a:latin typeface="Times New Roman" panose="02020603050405020304" pitchFamily="18" charset="0"/>
                <a:cs typeface="Times New Roman" panose="02020603050405020304" pitchFamily="18" charset="0"/>
              </a:rPr>
              <a:t>thu hẹp khoảng cách</a:t>
            </a:r>
            <a:r>
              <a:rPr lang="vi-VN" sz="1600" dirty="0">
                <a:solidFill>
                  <a:srgbClr val="000000"/>
                </a:solidFill>
                <a:latin typeface="Times New Roman" panose="02020603050405020304" pitchFamily="18" charset="0"/>
                <a:cs typeface="Times New Roman" panose="02020603050405020304" pitchFamily="18" charset="0"/>
              </a:rPr>
              <a:t> và </a:t>
            </a:r>
            <a:r>
              <a:rPr lang="vi-VN" sz="1600" b="1" dirty="0">
                <a:solidFill>
                  <a:srgbClr val="000000"/>
                </a:solidFill>
                <a:latin typeface="Times New Roman" panose="02020603050405020304" pitchFamily="18" charset="0"/>
                <a:cs typeface="Times New Roman" panose="02020603050405020304" pitchFamily="18" charset="0"/>
              </a:rPr>
              <a:t>ổn định hơn</a:t>
            </a:r>
            <a:r>
              <a:rPr lang="vi-VN" sz="1600" dirty="0">
                <a:solidFill>
                  <a:srgbClr val="000000"/>
                </a:solidFill>
                <a:latin typeface="Times New Roman" panose="02020603050405020304" pitchFamily="18" charset="0"/>
                <a:cs typeface="Times New Roman" panose="02020603050405020304" pitchFamily="18" charset="0"/>
              </a:rPr>
              <a:t> trong năm 2014 so với sự chênh lệch lớn của năm 2013.</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Năm 2013:</a:t>
            </a:r>
            <a:r>
              <a:rPr lang="vi-VN" sz="1600" dirty="0">
                <a:solidFill>
                  <a:srgbClr val="000000"/>
                </a:solidFill>
                <a:latin typeface="Times New Roman" panose="02020603050405020304" pitchFamily="18" charset="0"/>
                <a:cs typeface="Times New Roman" panose="02020603050405020304" pitchFamily="18" charset="0"/>
              </a:rPr>
              <a:t> Biên độ dao động khá rộng, từ </a:t>
            </a:r>
            <a:r>
              <a:rPr lang="vi-VN" sz="1600" b="1" dirty="0">
                <a:solidFill>
                  <a:srgbClr val="000000"/>
                </a:solidFill>
                <a:latin typeface="Times New Roman" panose="02020603050405020304" pitchFamily="18" charset="0"/>
                <a:cs typeface="Times New Roman" panose="02020603050405020304" pitchFamily="18" charset="0"/>
              </a:rPr>
              <a:t>11% đến 18%</a:t>
            </a:r>
            <a:r>
              <a:rPr lang="vi-VN" sz="1600" dirty="0">
                <a:solidFill>
                  <a:srgbClr val="000000"/>
                </a:solidFill>
                <a:latin typeface="Times New Roman" panose="02020603050405020304" pitchFamily="18" charset="0"/>
                <a:cs typeface="Times New Roman" panose="02020603050405020304" pitchFamily="18" charset="0"/>
              </a:rPr>
              <a:t>. Germany dẫn đầu vượt trội so với các nước còn lại.</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Năm 2014:</a:t>
            </a:r>
            <a:r>
              <a:rPr lang="vi-VN" sz="1600" dirty="0">
                <a:solidFill>
                  <a:srgbClr val="000000"/>
                </a:solidFill>
                <a:latin typeface="Times New Roman" panose="02020603050405020304" pitchFamily="18" charset="0"/>
                <a:cs typeface="Times New Roman" panose="02020603050405020304" pitchFamily="18" charset="0"/>
              </a:rPr>
              <a:t> Biên độ dao động hẹp lại, chỉ từ </a:t>
            </a:r>
            <a:r>
              <a:rPr lang="vi-VN" sz="1600" b="1" dirty="0">
                <a:solidFill>
                  <a:srgbClr val="000000"/>
                </a:solidFill>
                <a:latin typeface="Times New Roman" panose="02020603050405020304" pitchFamily="18" charset="0"/>
                <a:cs typeface="Times New Roman" panose="02020603050405020304" pitchFamily="18" charset="0"/>
              </a:rPr>
              <a:t>12% đến 15%</a:t>
            </a:r>
            <a:r>
              <a:rPr lang="vi-VN" sz="1600" dirty="0">
                <a:solidFill>
                  <a:srgbClr val="000000"/>
                </a:solidFill>
                <a:latin typeface="Times New Roman" panose="02020603050405020304" pitchFamily="18" charset="0"/>
                <a:cs typeface="Times New Roman" panose="02020603050405020304" pitchFamily="18" charset="0"/>
              </a:rPr>
              <a:t>. Các quốc gia có mức tỷ số sàn sàn nhau, không còn quốc gia nào quá áp đảo.</a:t>
            </a:r>
            <a:r>
              <a:rPr lang="en-US" sz="1600" dirty="0">
                <a:solidFill>
                  <a:srgbClr val="000000"/>
                </a:solidFill>
                <a:latin typeface="Times New Roman" panose="02020603050405020304" pitchFamily="18" charset="0"/>
                <a:cs typeface="Times New Roman" panose="02020603050405020304" pitchFamily="18" charset="0"/>
              </a:rPr>
              <a:t> </a:t>
            </a:r>
            <a:endParaRPr lang="vi-VN" sz="1600" dirty="0">
              <a:solidFill>
                <a:srgbClr val="000000"/>
              </a:solidFill>
              <a:latin typeface="Times New Roman" panose="02020603050405020304" pitchFamily="18" charset="0"/>
              <a:cs typeface="Times New Roman" panose="02020603050405020304" pitchFamily="18" charset="0"/>
            </a:endParaRPr>
          </a:p>
          <a:p>
            <a:pPr rtl="0"/>
            <a:r>
              <a:rPr lang="vi-VN" sz="1600" b="1" dirty="0">
                <a:solidFill>
                  <a:srgbClr val="000000"/>
                </a:solidFill>
                <a:latin typeface="Times New Roman" panose="02020603050405020304" pitchFamily="18" charset="0"/>
                <a:cs typeface="Times New Roman" panose="02020603050405020304" pitchFamily="18" charset="0"/>
              </a:rPr>
              <a:t>Sự sụt giảm tại các thị trường dẫn đầu:</a:t>
            </a:r>
            <a:r>
              <a:rPr lang="vi-VN" sz="1600" dirty="0">
                <a:solidFill>
                  <a:srgbClr val="000000"/>
                </a:solidFill>
                <a:latin typeface="Times New Roman" panose="02020603050405020304" pitchFamily="18" charset="0"/>
                <a:cs typeface="Times New Roman" panose="02020603050405020304" pitchFamily="18" charset="0"/>
              </a:rPr>
              <a:t> Germany, France và Canada đều ghi nhận sự sụt giảm trong tỷ số tài chính. Đặc biệt là </a:t>
            </a:r>
            <a:r>
              <a:rPr lang="vi-VN" sz="1600" b="1" dirty="0">
                <a:solidFill>
                  <a:srgbClr val="000000"/>
                </a:solidFill>
                <a:latin typeface="Times New Roman" panose="02020603050405020304" pitchFamily="18" charset="0"/>
                <a:cs typeface="Times New Roman" panose="02020603050405020304" pitchFamily="18" charset="0"/>
              </a:rPr>
              <a:t>Germany</a:t>
            </a:r>
            <a:r>
              <a:rPr lang="vi-VN" sz="1600" dirty="0">
                <a:solidFill>
                  <a:srgbClr val="000000"/>
                </a:solidFill>
                <a:latin typeface="Times New Roman" panose="02020603050405020304" pitchFamily="18" charset="0"/>
                <a:cs typeface="Times New Roman" panose="02020603050405020304" pitchFamily="18" charset="0"/>
              </a:rPr>
              <a:t> giảm mạnh nhất (từ 18% xuống 15%), cho thấy dù doanh thu tăng mạnh (như ở biểu đồ trước), nhưng tỷ lệ sinh lời hoặc hiệu suất tài chính tính trên đơn vị đang bị pha loãng.</a:t>
            </a:r>
            <a:endParaRPr lang="en-US" sz="1600" dirty="0">
              <a:solidFill>
                <a:srgbClr val="000000"/>
              </a:solidFill>
              <a:latin typeface="Times New Roman" panose="02020603050405020304" pitchFamily="18" charset="0"/>
              <a:cs typeface="Times New Roman" panose="02020603050405020304" pitchFamily="18" charset="0"/>
            </a:endParaRPr>
          </a:p>
          <a:p>
            <a:r>
              <a:rPr lang="vi-VN" sz="1600" b="1" dirty="0">
                <a:solidFill>
                  <a:srgbClr val="000000"/>
                </a:solidFill>
                <a:latin typeface="Times New Roman" panose="02020603050405020304" pitchFamily="18" charset="0"/>
                <a:cs typeface="Times New Roman" panose="02020603050405020304" pitchFamily="18" charset="0"/>
              </a:rPr>
              <a:t>Sự cải thiện tại Mexico và USA:</a:t>
            </a:r>
            <a:r>
              <a:rPr lang="vi-VN" sz="1600" dirty="0">
                <a:solidFill>
                  <a:srgbClr val="000000"/>
                </a:solidFill>
                <a:latin typeface="Times New Roman" panose="02020603050405020304" pitchFamily="18" charset="0"/>
                <a:cs typeface="Times New Roman" panose="02020603050405020304" pitchFamily="18" charset="0"/>
              </a:rPr>
              <a:t> Đây là hai quốc gia duy nhất có sự tăng trưởng về tỷ số tài chính.</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Mexico</a:t>
            </a:r>
            <a:r>
              <a:rPr lang="vi-VN" sz="1600" dirty="0">
                <a:solidFill>
                  <a:srgbClr val="000000"/>
                </a:solidFill>
                <a:latin typeface="Times New Roman" panose="02020603050405020304" pitchFamily="18" charset="0"/>
                <a:cs typeface="Times New Roman" panose="02020603050405020304" pitchFamily="18" charset="0"/>
              </a:rPr>
              <a:t> tăng từ 12% lên 14%.</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USA</a:t>
            </a:r>
            <a:r>
              <a:rPr lang="vi-VN" sz="1600" dirty="0">
                <a:solidFill>
                  <a:srgbClr val="000000"/>
                </a:solidFill>
                <a:latin typeface="Times New Roman" panose="02020603050405020304" pitchFamily="18" charset="0"/>
                <a:cs typeface="Times New Roman" panose="02020603050405020304" pitchFamily="18" charset="0"/>
              </a:rPr>
              <a:t> tăng từ mức thấp nhất 11% lên 12%. Điều này cho thấy chiến lược tại thị trường Mỹ không chỉ tăng về quy mô doanh thu mà còn đang dần cải thiện về chất lượng lợi nhuận.</a:t>
            </a:r>
          </a:p>
          <a:p>
            <a:r>
              <a:rPr lang="vi-VN" sz="1600" b="1" dirty="0">
                <a:solidFill>
                  <a:srgbClr val="000000"/>
                </a:solidFill>
                <a:latin typeface="Times New Roman" panose="02020603050405020304" pitchFamily="18" charset="0"/>
                <a:cs typeface="Times New Roman" panose="02020603050405020304" pitchFamily="18" charset="0"/>
              </a:rPr>
              <a:t>Kết luận:</a:t>
            </a:r>
          </a:p>
          <a:p>
            <a:r>
              <a:rPr lang="vi-VN" sz="1600" dirty="0">
                <a:solidFill>
                  <a:srgbClr val="000000"/>
                </a:solidFill>
                <a:latin typeface="Times New Roman" panose="02020603050405020304" pitchFamily="18" charset="0"/>
                <a:cs typeface="Times New Roman" panose="02020603050405020304" pitchFamily="18" charset="0"/>
              </a:rPr>
              <a:t>Mặc dù năm 2014 có doanh thu bùng nổ (gấp hơn 3 lần), nhưng tỷ số tài chính lại có dấu hiệu </a:t>
            </a:r>
            <a:r>
              <a:rPr lang="vi-VN" sz="1600" b="1" dirty="0">
                <a:solidFill>
                  <a:srgbClr val="000000"/>
                </a:solidFill>
                <a:latin typeface="Times New Roman" panose="02020603050405020304" pitchFamily="18" charset="0"/>
                <a:cs typeface="Times New Roman" panose="02020603050405020304" pitchFamily="18" charset="0"/>
              </a:rPr>
              <a:t>đi ngang hoặc giảm nhẹ</a:t>
            </a:r>
            <a:r>
              <a:rPr lang="vi-VN" sz="1600" dirty="0">
                <a:solidFill>
                  <a:srgbClr val="000000"/>
                </a:solidFill>
                <a:latin typeface="Times New Roman" panose="02020603050405020304" pitchFamily="18" charset="0"/>
                <a:cs typeface="Times New Roman" panose="02020603050405020304" pitchFamily="18" charset="0"/>
              </a:rPr>
              <a:t> ở các thị trường chủ lực. Điều này phản ánh rằng doanh nghiệp đang ưu tiên việc chiếm lĩnh thị phần và mở rộng quy mô hơn là tối ưu hóa tỷ suất lợi nhuận trong giai đoạn này.</a:t>
            </a:r>
          </a:p>
          <a:p>
            <a:pPr rtl="0"/>
            <a:endParaRPr lang="en-GB" sz="1600"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7</a:t>
            </a:fld>
            <a:endParaRPr lang="en-GB" dirty="0"/>
          </a:p>
        </p:txBody>
      </p:sp>
      <p:pic>
        <p:nvPicPr>
          <p:cNvPr id="6" name="Picture 5">
            <a:extLst>
              <a:ext uri="{FF2B5EF4-FFF2-40B4-BE49-F238E27FC236}">
                <a16:creationId xmlns:a16="http://schemas.microsoft.com/office/drawing/2014/main" id="{B188BF85-8704-70C8-1BE8-8F0234B15EC9}"/>
              </a:ext>
            </a:extLst>
          </p:cNvPr>
          <p:cNvPicPr>
            <a:picLocks noChangeAspect="1"/>
          </p:cNvPicPr>
          <p:nvPr/>
        </p:nvPicPr>
        <p:blipFill>
          <a:blip r:embed="rId3"/>
          <a:stretch>
            <a:fillRect/>
          </a:stretch>
        </p:blipFill>
        <p:spPr>
          <a:xfrm>
            <a:off x="7518789" y="595224"/>
            <a:ext cx="4496427" cy="2581635"/>
          </a:xfrm>
          <a:prstGeom prst="rect">
            <a:avLst/>
          </a:prstGeom>
        </p:spPr>
      </p:pic>
      <p:pic>
        <p:nvPicPr>
          <p:cNvPr id="8" name="Picture 7">
            <a:extLst>
              <a:ext uri="{FF2B5EF4-FFF2-40B4-BE49-F238E27FC236}">
                <a16:creationId xmlns:a16="http://schemas.microsoft.com/office/drawing/2014/main" id="{E9CFB554-B9F4-4B95-0CAC-1F18F6E53BA8}"/>
              </a:ext>
            </a:extLst>
          </p:cNvPr>
          <p:cNvPicPr>
            <a:picLocks noChangeAspect="1"/>
          </p:cNvPicPr>
          <p:nvPr/>
        </p:nvPicPr>
        <p:blipFill>
          <a:blip r:embed="rId4"/>
          <a:stretch>
            <a:fillRect/>
          </a:stretch>
        </p:blipFill>
        <p:spPr>
          <a:xfrm>
            <a:off x="7518789" y="3429000"/>
            <a:ext cx="4496426" cy="2476846"/>
          </a:xfrm>
          <a:prstGeom prst="rect">
            <a:avLst/>
          </a:prstGeom>
        </p:spPr>
      </p:pic>
      <p:sp>
        <p:nvSpPr>
          <p:cNvPr id="12" name="TextBox 11">
            <a:extLst>
              <a:ext uri="{FF2B5EF4-FFF2-40B4-BE49-F238E27FC236}">
                <a16:creationId xmlns:a16="http://schemas.microsoft.com/office/drawing/2014/main" id="{C2F25ACA-1DB9-A4C9-5AE9-F597E06335CB}"/>
              </a:ext>
            </a:extLst>
          </p:cNvPr>
          <p:cNvSpPr txBox="1"/>
          <p:nvPr/>
        </p:nvSpPr>
        <p:spPr>
          <a:xfrm>
            <a:off x="403542"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3. </a:t>
            </a:r>
            <a:r>
              <a:rPr lang="en-US" b="1" dirty="0" err="1">
                <a:solidFill>
                  <a:srgbClr val="000000"/>
                </a:solidFill>
                <a:latin typeface="Times New Roman" panose="02020603050405020304" pitchFamily="18" charset="0"/>
                <a:cs typeface="Times New Roman" panose="02020603050405020304" pitchFamily="18" charset="0"/>
              </a:rPr>
              <a:t>Tỷ</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số</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tài</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chính</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theo</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từng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quốc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gia</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943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365760" y="595224"/>
            <a:ext cx="5841983" cy="4925682"/>
          </a:xfrm>
        </p:spPr>
        <p:txBody>
          <a:bodyPr rtlCol="0">
            <a:normAutofit/>
          </a:bodyPr>
          <a:lstStyle>
            <a:defPPr>
              <a:defRPr lang="en-GB"/>
            </a:defPPr>
          </a:lstStyle>
          <a:p>
            <a:pPr rtl="0"/>
            <a:r>
              <a:rPr lang="vi-VN" sz="1600" dirty="0">
                <a:solidFill>
                  <a:srgbClr val="000000"/>
                </a:solidFill>
                <a:latin typeface="Times New Roman" panose="02020603050405020304" pitchFamily="18" charset="0"/>
                <a:cs typeface="Times New Roman" panose="02020603050405020304" pitchFamily="18" charset="0"/>
              </a:rPr>
              <a:t>Năm 2013 (Biểu đồ dưới): Hoạt động kinh doanh chỉ bắt đầu ghi nhận dữ liệu từ tháng 9 đến tháng 12. Doanh thu đạt đỉnh vào tháng 10 (9,3 triệu) và giảm dần về cuối năm. Lợi nhuận duy trì ở mức thấp, dao động từ 0,7 triệu đến 1,7 triệu.Năm 2014 (Biểu đồ trên): Kinh doanh diễn ra xuyên suốt 12 tháng với quy mô lớn hơn nhiều.Đỉnh điểm: Tháng 10 và tháng 12 là hai tháng bùng nổ nhất với doanh thu lần lượt là 12,4 triệu và 12,0 triệu.Lợi nhuận: Đạt mức cao nhất vào tháng 12 với 2,0 triệu.Biến động: Doanh thu có sự trồi sụt mạnh, đặc biệt giảm sâu vào tháng 11 (5,4 triệu) trước khi bật tăng trở lại vào tháng 12.</a:t>
            </a:r>
            <a:endParaRPr lang="en-GB" sz="1600" dirty="0">
              <a:solidFill>
                <a:srgbClr val="00000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8</a:t>
            </a:fld>
            <a:endParaRPr lang="en-GB" dirty="0"/>
          </a:p>
        </p:txBody>
      </p:sp>
      <p:pic>
        <p:nvPicPr>
          <p:cNvPr id="7" name="Picture 6">
            <a:extLst>
              <a:ext uri="{FF2B5EF4-FFF2-40B4-BE49-F238E27FC236}">
                <a16:creationId xmlns:a16="http://schemas.microsoft.com/office/drawing/2014/main" id="{39689EF3-8AF6-E03C-2A7D-6D8E361ED467}"/>
              </a:ext>
            </a:extLst>
          </p:cNvPr>
          <p:cNvPicPr>
            <a:picLocks noChangeAspect="1"/>
          </p:cNvPicPr>
          <p:nvPr/>
        </p:nvPicPr>
        <p:blipFill>
          <a:blip r:embed="rId3"/>
          <a:stretch>
            <a:fillRect/>
          </a:stretch>
        </p:blipFill>
        <p:spPr>
          <a:xfrm>
            <a:off x="7325483" y="263106"/>
            <a:ext cx="4057790" cy="2491625"/>
          </a:xfrm>
          <a:prstGeom prst="rect">
            <a:avLst/>
          </a:prstGeom>
        </p:spPr>
      </p:pic>
      <p:pic>
        <p:nvPicPr>
          <p:cNvPr id="10" name="Picture 9">
            <a:extLst>
              <a:ext uri="{FF2B5EF4-FFF2-40B4-BE49-F238E27FC236}">
                <a16:creationId xmlns:a16="http://schemas.microsoft.com/office/drawing/2014/main" id="{C5D69C47-561F-958A-6A12-AF4DA8ADBB79}"/>
              </a:ext>
            </a:extLst>
          </p:cNvPr>
          <p:cNvPicPr>
            <a:picLocks noChangeAspect="1"/>
          </p:cNvPicPr>
          <p:nvPr/>
        </p:nvPicPr>
        <p:blipFill>
          <a:blip r:embed="rId4"/>
          <a:stretch>
            <a:fillRect/>
          </a:stretch>
        </p:blipFill>
        <p:spPr>
          <a:xfrm>
            <a:off x="7378374" y="3058065"/>
            <a:ext cx="4004899" cy="2491625"/>
          </a:xfrm>
          <a:prstGeom prst="rect">
            <a:avLst/>
          </a:prstGeom>
        </p:spPr>
      </p:pic>
      <p:sp>
        <p:nvSpPr>
          <p:cNvPr id="12" name="TextBox 11">
            <a:extLst>
              <a:ext uri="{FF2B5EF4-FFF2-40B4-BE49-F238E27FC236}">
                <a16:creationId xmlns:a16="http://schemas.microsoft.com/office/drawing/2014/main" id="{FF7D11FC-2C44-A1DB-AEC6-8A23926799B5}"/>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4.Tốc </a:t>
            </a:r>
            <a:r>
              <a:rPr lang="en-US" b="1" dirty="0" err="1">
                <a:solidFill>
                  <a:srgbClr val="000000"/>
                </a:solidFill>
                <a:latin typeface="Times New Roman" panose="02020603050405020304" pitchFamily="18" charset="0"/>
                <a:cs typeface="Times New Roman" panose="02020603050405020304" pitchFamily="18" charset="0"/>
              </a:rPr>
              <a:t>độ</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tăng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trưởng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theo</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tháng</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5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576070" y="1380744"/>
            <a:ext cx="10974699" cy="4070729"/>
          </a:xfrm>
        </p:spPr>
        <p:txBody>
          <a:bodyPr rtlCol="0">
            <a:normAutofit/>
          </a:bodyPr>
          <a:lstStyle>
            <a:defPPr>
              <a:defRPr lang="en-GB"/>
            </a:defPPr>
          </a:lstStyle>
          <a:p>
            <a:pPr rtl="0"/>
            <a:r>
              <a:rPr lang="vi-VN" dirty="0">
                <a:solidFill>
                  <a:srgbClr val="000000"/>
                </a:solidFill>
                <a:latin typeface="+mj-lt"/>
              </a:rPr>
              <a:t>Quy mô tăng trưởng đột phá: Doanh thu tăng mạnh từ $26M lên $92M (gấp 3.5 lần).</a:t>
            </a:r>
            <a:endParaRPr lang="en-US" dirty="0">
              <a:solidFill>
                <a:srgbClr val="000000"/>
              </a:solidFill>
              <a:latin typeface="+mj-lt"/>
            </a:endParaRPr>
          </a:p>
          <a:p>
            <a:pPr rtl="0"/>
            <a:r>
              <a:rPr lang="vi-VN" dirty="0">
                <a:solidFill>
                  <a:srgbClr val="000000"/>
                </a:solidFill>
                <a:latin typeface="+mj-lt"/>
              </a:rPr>
              <a:t>Lợi nhuận tuyệt đối tăng cao: Tổng lợi nhuận tăng từ $4M lên $13M dù tỷ số tài chính trung bình giảm nhẹ từ 15% xuống 14%.</a:t>
            </a:r>
            <a:endParaRPr lang="en-US" dirty="0">
              <a:solidFill>
                <a:srgbClr val="000000"/>
              </a:solidFill>
              <a:latin typeface="+mj-lt"/>
            </a:endParaRPr>
          </a:p>
          <a:p>
            <a:pPr rtl="0"/>
            <a:r>
              <a:rPr lang="vi-VN" dirty="0">
                <a:solidFill>
                  <a:srgbClr val="000000"/>
                </a:solidFill>
                <a:latin typeface="+mj-lt"/>
              </a:rPr>
              <a:t>Mở rộng thời gian vận hành: Năm 2013 chỉ kinh doanh tập trung 4 tháng cuối năm, trong khi năm 2014 đã vận hành ổn định suốt 12 tháng.</a:t>
            </a:r>
            <a:endParaRPr lang="en-US" dirty="0">
              <a:solidFill>
                <a:srgbClr val="000000"/>
              </a:solidFill>
              <a:latin typeface="+mj-lt"/>
            </a:endParaRPr>
          </a:p>
          <a:p>
            <a:pPr rtl="0"/>
            <a:r>
              <a:rPr lang="vi-VN" dirty="0">
                <a:solidFill>
                  <a:srgbClr val="000000"/>
                </a:solidFill>
                <a:latin typeface="+mj-lt"/>
              </a:rPr>
              <a:t>Chuyển dịch thị trường trọng điểm: France vươn lên dẫn đầu về tỷ trọng đóng góp lợi nhuận năm 2014 (22.02%), thay thế vị trí của Canada năm 2013 (23.53%).</a:t>
            </a:r>
            <a:endParaRPr lang="en-US" dirty="0">
              <a:solidFill>
                <a:srgbClr val="000000"/>
              </a:solidFill>
              <a:latin typeface="+mj-lt"/>
            </a:endParaRPr>
          </a:p>
          <a:p>
            <a:pPr rtl="0"/>
            <a:r>
              <a:rPr lang="vi-VN" dirty="0">
                <a:solidFill>
                  <a:srgbClr val="000000"/>
                </a:solidFill>
                <a:latin typeface="+mj-lt"/>
              </a:rPr>
              <a:t>Cân bằng hiệu suất giữa các quốc gia: Khoảng cách về tỷ số tài chính giữa các nước năm 2014 (12% - 15%) đã hẹp lại và đồng đều hơn so với năm 2013 (11% - 18%).</a:t>
            </a:r>
            <a:endParaRPr lang="en-US" dirty="0">
              <a:solidFill>
                <a:srgbClr val="000000"/>
              </a:solidFill>
              <a:latin typeface="+mj-lt"/>
            </a:endParaRPr>
          </a:p>
          <a:p>
            <a:pPr rtl="0"/>
            <a:r>
              <a:rPr lang="vi-VN" dirty="0">
                <a:solidFill>
                  <a:srgbClr val="000000"/>
                </a:solidFill>
                <a:latin typeface="+mj-lt"/>
              </a:rPr>
              <a:t>Đặc điểm mùa vụ: Cả hai năm đều cho thấy tháng 10 là thời điểm vàng với doanh thu cực cao, nhưng năm 2014 có thêm sự bùng nổ mạnh mẽ vào tháng 12.</a:t>
            </a:r>
            <a:endParaRPr lang="en-GB" dirty="0">
              <a:solidFill>
                <a:srgbClr val="000000"/>
              </a:solidFill>
              <a:latin typeface="+mj-lt"/>
            </a:endParaRPr>
          </a:p>
        </p:txBody>
      </p:sp>
      <p:sp>
        <p:nvSpPr>
          <p:cNvPr id="2" name="Date Placeholder 1">
            <a:extLst>
              <a:ext uri="{FF2B5EF4-FFF2-40B4-BE49-F238E27FC236}">
                <a16:creationId xmlns:a16="http://schemas.microsoft.com/office/drawing/2014/main" id="{DA884D8B-635B-7402-1437-04A104C24B54}"/>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FAD9BE9C-B5EA-5DA0-9156-6E05D3882992}"/>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9</a:t>
            </a:fld>
            <a:endParaRPr lang="en-GB" dirty="0"/>
          </a:p>
        </p:txBody>
      </p:sp>
      <p:sp>
        <p:nvSpPr>
          <p:cNvPr id="11" name="Title 25">
            <a:extLst>
              <a:ext uri="{FF2B5EF4-FFF2-40B4-BE49-F238E27FC236}">
                <a16:creationId xmlns:a16="http://schemas.microsoft.com/office/drawing/2014/main" id="{6EDA0EFF-50E7-B397-3C6A-753747F58DE6}"/>
              </a:ext>
            </a:extLst>
          </p:cNvPr>
          <p:cNvSpPr>
            <a:spLocks noGrp="1"/>
          </p:cNvSpPr>
          <p:nvPr>
            <p:ph type="title"/>
          </p:nvPr>
        </p:nvSpPr>
        <p:spPr>
          <a:xfrm>
            <a:off x="576071" y="197421"/>
            <a:ext cx="6502620" cy="676656"/>
          </a:xfrm>
        </p:spPr>
        <p:txBody>
          <a:bodyPr rtlCol="0"/>
          <a:lstStyle>
            <a:defPPr>
              <a:defRPr lang="en-GB"/>
            </a:defPPr>
          </a:lstStyle>
          <a:p>
            <a:pPr rtl="0"/>
            <a:r>
              <a:rPr lang="en-US" dirty="0" err="1">
                <a:solidFill>
                  <a:srgbClr val="000000"/>
                </a:solidFill>
              </a:rPr>
              <a:t>Nhận</a:t>
            </a:r>
            <a:r>
              <a:rPr lang="en-US" dirty="0">
                <a:solidFill>
                  <a:srgbClr val="000000"/>
                </a:solidFill>
              </a:rPr>
              <a:t> </a:t>
            </a:r>
            <a:r>
              <a:rPr lang="en-US" dirty="0" err="1">
                <a:solidFill>
                  <a:srgbClr val="000000"/>
                </a:solidFill>
              </a:rPr>
              <a:t>Xét</a:t>
            </a:r>
            <a:endParaRPr lang="en-GB" dirty="0">
              <a:solidFill>
                <a:srgbClr val="000000"/>
              </a:solidFill>
            </a:endParaRPr>
          </a:p>
        </p:txBody>
      </p:sp>
    </p:spTree>
    <p:extLst>
      <p:ext uri="{BB962C8B-B14F-4D97-AF65-F5344CB8AC3E}">
        <p14:creationId xmlns:p14="http://schemas.microsoft.com/office/powerpoint/2010/main" val="2912001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3B8B492D-0778-C859-9200-08161ABEBFE5}"/>
              </a:ext>
            </a:extLst>
          </p:cNvPr>
          <p:cNvSpPr>
            <a:spLocks noGrp="1"/>
          </p:cNvSpPr>
          <p:nvPr>
            <p:ph type="dt" sz="half" idx="10"/>
          </p:nvPr>
        </p:nvSpPr>
        <p:spPr/>
        <p:txBody>
          <a:bodyPr rtlCol="0"/>
          <a:lstStyle>
            <a:defPPr>
              <a:defRPr lang="en-GB"/>
            </a:defPPr>
          </a:lstStyle>
          <a:p>
            <a:pPr rtl="0"/>
            <a:r>
              <a:rPr lang="en-GB" dirty="0"/>
              <a:t>20XX</a:t>
            </a:r>
          </a:p>
        </p:txBody>
      </p:sp>
      <p:sp>
        <p:nvSpPr>
          <p:cNvPr id="9" name="Footer Placeholder 8">
            <a:extLst>
              <a:ext uri="{FF2B5EF4-FFF2-40B4-BE49-F238E27FC236}">
                <a16:creationId xmlns:a16="http://schemas.microsoft.com/office/drawing/2014/main" id="{B1185DEE-1419-7DB6-949B-929195894BC8}"/>
              </a:ext>
            </a:extLst>
          </p:cNvPr>
          <p:cNvSpPr>
            <a:spLocks noGrp="1"/>
          </p:cNvSpPr>
          <p:nvPr>
            <p:ph type="ftr" sz="quarter" idx="11"/>
          </p:nvPr>
        </p:nvSpPr>
        <p:spPr/>
        <p:txBody>
          <a:bodyPr rtlCol="0"/>
          <a:lstStyle>
            <a:defPPr>
              <a:defRPr lang="en-GB"/>
            </a:defPPr>
          </a:lstStyle>
          <a:p>
            <a:pPr rtl="0"/>
            <a:r>
              <a:rPr lang="en-GB"/>
              <a:t>presentation title</a:t>
            </a:r>
          </a:p>
        </p:txBody>
      </p:sp>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10</a:t>
            </a:fld>
            <a:endParaRPr lang="en-GB" dirty="0"/>
          </a:p>
        </p:txBody>
      </p:sp>
      <p:sp>
        <p:nvSpPr>
          <p:cNvPr id="21" name="Title 1">
            <a:extLst>
              <a:ext uri="{FF2B5EF4-FFF2-40B4-BE49-F238E27FC236}">
                <a16:creationId xmlns:a16="http://schemas.microsoft.com/office/drawing/2014/main" id="{17DDB0B8-E2D3-2A89-EAEE-BFE5CACDF142}"/>
              </a:ext>
            </a:extLst>
          </p:cNvPr>
          <p:cNvSpPr txBox="1">
            <a:spLocks/>
          </p:cNvSpPr>
          <p:nvPr/>
        </p:nvSpPr>
        <p:spPr>
          <a:xfrm>
            <a:off x="1524000" y="1122363"/>
            <a:ext cx="9144000" cy="2387600"/>
          </a:xfrm>
          <a:prstGeom prst="rect">
            <a:avLst/>
          </a:prstGeom>
        </p:spPr>
        <p:txBody>
          <a:bodyPr vert="horz" lIns="91440" tIns="45720" rIns="91440" bIns="45720" rtlCol="0" anchor="ctr">
            <a:noAutofit/>
          </a:bodyPr>
          <a:lstStyle>
            <a:defPPr>
              <a:defRPr lang="en-GB"/>
            </a:defPPr>
            <a:lvl1pPr algn="l" defTabSz="914400" rtl="0" eaLnBrk="1" latinLnBrk="0" hangingPunct="1">
              <a:lnSpc>
                <a:spcPct val="90000"/>
              </a:lnSpc>
              <a:spcBef>
                <a:spcPct val="0"/>
              </a:spcBef>
              <a:buNone/>
              <a:defRPr lang="en-GB" sz="4800" kern="1200">
                <a:solidFill>
                  <a:schemeClr val="accent1"/>
                </a:solidFill>
                <a:latin typeface="+mj-lt"/>
                <a:ea typeface="+mj-ea"/>
                <a:cs typeface="+mj-cs"/>
              </a:defRPr>
            </a:lvl1pPr>
          </a:lstStyle>
          <a:p>
            <a:pPr algn="ctr"/>
            <a:r>
              <a:rPr lang="en-US" sz="6000" dirty="0" err="1">
                <a:solidFill>
                  <a:srgbClr val="000000"/>
                </a:solidFill>
                <a:latin typeface="Times New Roman" panose="02020603050405020304" pitchFamily="18" charset="0"/>
                <a:cs typeface="Times New Roman" panose="02020603050405020304" pitchFamily="18" charset="0"/>
              </a:rPr>
              <a:t>Tổng</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quan</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chung</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sản</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phẩm</a:t>
            </a:r>
            <a:endParaRPr lang="en-US" sz="6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600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11</a:t>
            </a:fld>
            <a:endParaRPr lang="en-GB" dirty="0"/>
          </a:p>
        </p:txBody>
      </p:sp>
      <p:sp>
        <p:nvSpPr>
          <p:cNvPr id="2" name="Text Placeholder 26">
            <a:extLst>
              <a:ext uri="{FF2B5EF4-FFF2-40B4-BE49-F238E27FC236}">
                <a16:creationId xmlns:a16="http://schemas.microsoft.com/office/drawing/2014/main" id="{5C3C2E56-9698-279D-615A-A551C31AA211}"/>
              </a:ext>
            </a:extLst>
          </p:cNvPr>
          <p:cNvSpPr txBox="1">
            <a:spLocks/>
          </p:cNvSpPr>
          <p:nvPr/>
        </p:nvSpPr>
        <p:spPr>
          <a:xfrm>
            <a:off x="593323" y="595224"/>
            <a:ext cx="10991952" cy="4925682"/>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sp>
        <p:nvSpPr>
          <p:cNvPr id="11" name="Text Placeholder 26">
            <a:extLst>
              <a:ext uri="{FF2B5EF4-FFF2-40B4-BE49-F238E27FC236}">
                <a16:creationId xmlns:a16="http://schemas.microsoft.com/office/drawing/2014/main" id="{12A9E340-97DA-80C5-695D-E3CCCDBA267E}"/>
              </a:ext>
            </a:extLst>
          </p:cNvPr>
          <p:cNvSpPr txBox="1">
            <a:spLocks/>
          </p:cNvSpPr>
          <p:nvPr/>
        </p:nvSpPr>
        <p:spPr>
          <a:xfrm>
            <a:off x="365760" y="595224"/>
            <a:ext cx="10974699" cy="4070729"/>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vi-VN" sz="1600" b="1" dirty="0">
                <a:solidFill>
                  <a:srgbClr val="000000"/>
                </a:solidFill>
                <a:latin typeface="Times New Roman" panose="02020603050405020304" pitchFamily="18" charset="0"/>
                <a:cs typeface="Times New Roman" panose="02020603050405020304" pitchFamily="18" charset="0"/>
              </a:rPr>
              <a:t>1. Phân tích theo Phân khúc khách hàng (Khu vực)</a:t>
            </a:r>
          </a:p>
          <a:p>
            <a:pPr marL="0" indent="0">
              <a:buNone/>
            </a:pPr>
            <a:r>
              <a:rPr lang="vi-VN" sz="1600" dirty="0">
                <a:solidFill>
                  <a:srgbClr val="000000"/>
                </a:solidFill>
                <a:latin typeface="Times New Roman" panose="02020603050405020304" pitchFamily="18" charset="0"/>
                <a:cs typeface="Times New Roman" panose="02020603050405020304" pitchFamily="18" charset="0"/>
              </a:rPr>
              <a:t>Sự thay đổi rõ rệt nhất giữa 2013 và 2014 nằm ở cách các sản phẩm tiếp cận thị trường:</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Sự trỗi dậy của phân khúc Chính phủ (Government):</a:t>
            </a:r>
            <a:r>
              <a:rPr lang="vi-VN" sz="1600" dirty="0">
                <a:solidFill>
                  <a:srgbClr val="000000"/>
                </a:solidFill>
                <a:latin typeface="Times New Roman" panose="02020603050405020304" pitchFamily="18" charset="0"/>
                <a:cs typeface="Times New Roman" panose="02020603050405020304" pitchFamily="18" charset="0"/>
              </a:rPr>
              <a:t> Năm 2013, phân khúc này chỉ chiếm ưu thế lớn ở sản phẩm </a:t>
            </a:r>
            <a:r>
              <a:rPr lang="vi-VN" sz="1600" b="1" dirty="0">
                <a:solidFill>
                  <a:srgbClr val="000000"/>
                </a:solidFill>
                <a:latin typeface="Times New Roman" panose="02020603050405020304" pitchFamily="18" charset="0"/>
                <a:cs typeface="Times New Roman" panose="02020603050405020304" pitchFamily="18" charset="0"/>
              </a:rPr>
              <a:t>Amarilla</a:t>
            </a:r>
            <a:r>
              <a:rPr lang="vi-VN" sz="1600" dirty="0">
                <a:solidFill>
                  <a:srgbClr val="000000"/>
                </a:solidFill>
                <a:latin typeface="Times New Roman" panose="02020603050405020304" pitchFamily="18" charset="0"/>
                <a:cs typeface="Times New Roman" panose="02020603050405020304" pitchFamily="18" charset="0"/>
              </a:rPr>
              <a:t> (hơn 87%) và </a:t>
            </a:r>
            <a:r>
              <a:rPr lang="vi-VN" sz="1600" b="1" dirty="0">
                <a:solidFill>
                  <a:srgbClr val="000000"/>
                </a:solidFill>
                <a:latin typeface="Times New Roman" panose="02020603050405020304" pitchFamily="18" charset="0"/>
                <a:cs typeface="Times New Roman" panose="02020603050405020304" pitchFamily="18" charset="0"/>
              </a:rPr>
              <a:t>Paseo</a:t>
            </a:r>
            <a:r>
              <a:rPr lang="vi-VN" sz="1600" dirty="0">
                <a:solidFill>
                  <a:srgbClr val="000000"/>
                </a:solidFill>
                <a:latin typeface="Times New Roman" panose="02020603050405020304" pitchFamily="18" charset="0"/>
                <a:cs typeface="Times New Roman" panose="02020603050405020304" pitchFamily="18" charset="0"/>
              </a:rPr>
              <a:t> (68%).</a:t>
            </a: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Sang năm 2014, </a:t>
            </a:r>
            <a:r>
              <a:rPr lang="vi-VN" b="1" dirty="0">
                <a:solidFill>
                  <a:srgbClr val="000000"/>
                </a:solidFill>
                <a:latin typeface="Times New Roman" panose="02020603050405020304" pitchFamily="18" charset="0"/>
                <a:cs typeface="Times New Roman" panose="02020603050405020304" pitchFamily="18" charset="0"/>
              </a:rPr>
              <a:t>Government</a:t>
            </a:r>
            <a:r>
              <a:rPr lang="vi-VN" dirty="0">
                <a:solidFill>
                  <a:srgbClr val="000000"/>
                </a:solidFill>
                <a:latin typeface="Times New Roman" panose="02020603050405020304" pitchFamily="18" charset="0"/>
                <a:cs typeface="Times New Roman" panose="02020603050405020304" pitchFamily="18" charset="0"/>
              </a:rPr>
              <a:t> trở thành nguồn thu chủ lực và đồng đều cho </a:t>
            </a:r>
            <a:r>
              <a:rPr lang="vi-VN" b="1" dirty="0">
                <a:solidFill>
                  <a:srgbClr val="000000"/>
                </a:solidFill>
                <a:latin typeface="Times New Roman" panose="02020603050405020304" pitchFamily="18" charset="0"/>
                <a:cs typeface="Times New Roman" panose="02020603050405020304" pitchFamily="18" charset="0"/>
              </a:rPr>
              <a:t>tất cả các sản phẩm</a:t>
            </a:r>
            <a:r>
              <a:rPr lang="vi-VN" dirty="0">
                <a:solidFill>
                  <a:srgbClr val="000000"/>
                </a:solidFill>
                <a:latin typeface="Times New Roman" panose="02020603050405020304" pitchFamily="18" charset="0"/>
                <a:cs typeface="Times New Roman" panose="02020603050405020304" pitchFamily="18" charset="0"/>
              </a:rPr>
              <a:t>, dao động ổn định quanh mức 40-50% doanh thu.</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Sự thu hẹp của Doanh nghiệp lớn (Enterprise):</a:t>
            </a:r>
            <a:r>
              <a:rPr lang="vi-VN" sz="1600" dirty="0">
                <a:solidFill>
                  <a:srgbClr val="000000"/>
                </a:solidFill>
                <a:latin typeface="Times New Roman" panose="02020603050405020304" pitchFamily="18" charset="0"/>
                <a:cs typeface="Times New Roman" panose="02020603050405020304" pitchFamily="18" charset="0"/>
              </a:rPr>
              <a:t> Năm 2013, sản phẩm </a:t>
            </a:r>
            <a:r>
              <a:rPr lang="vi-VN" sz="1600" b="1" dirty="0">
                <a:solidFill>
                  <a:srgbClr val="000000"/>
                </a:solidFill>
                <a:latin typeface="Times New Roman" panose="02020603050405020304" pitchFamily="18" charset="0"/>
                <a:cs typeface="Times New Roman" panose="02020603050405020304" pitchFamily="18" charset="0"/>
              </a:rPr>
              <a:t>Carretera</a:t>
            </a:r>
            <a:r>
              <a:rPr lang="vi-VN" sz="1600" dirty="0">
                <a:solidFill>
                  <a:srgbClr val="000000"/>
                </a:solidFill>
                <a:latin typeface="Times New Roman" panose="02020603050405020304" pitchFamily="18" charset="0"/>
                <a:cs typeface="Times New Roman" panose="02020603050405020304" pitchFamily="18" charset="0"/>
              </a:rPr>
              <a:t> phụ thuộc cực lớn vào Enterprise (hơn 70% doanh thu).</a:t>
            </a: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Đến năm 2014, tỷ trọng Enterprise ở sản phẩm này giảm mạnh xuống chỉ còn khoảng 17.8%, cho thấy chiến lược đa dạng hóa khách hàng rất mạnh mẽ.</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Lợi nhuận theo khu vực:</a:t>
            </a:r>
            <a:endParaRPr lang="vi-VN" sz="1600" dirty="0">
              <a:solidFill>
                <a:srgbClr val="00000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Năm 2013, sản phẩm </a:t>
            </a:r>
            <a:r>
              <a:rPr lang="vi-VN" b="1" dirty="0">
                <a:solidFill>
                  <a:srgbClr val="000000"/>
                </a:solidFill>
                <a:latin typeface="Times New Roman" panose="02020603050405020304" pitchFamily="18" charset="0"/>
                <a:cs typeface="Times New Roman" panose="02020603050405020304" pitchFamily="18" charset="0"/>
              </a:rPr>
              <a:t>Carretera</a:t>
            </a:r>
            <a:r>
              <a:rPr lang="vi-VN" dirty="0">
                <a:solidFill>
                  <a:srgbClr val="000000"/>
                </a:solidFill>
                <a:latin typeface="Times New Roman" panose="02020603050405020304" pitchFamily="18" charset="0"/>
                <a:cs typeface="Times New Roman" panose="02020603050405020304" pitchFamily="18" charset="0"/>
              </a:rPr>
              <a:t> bị lỗ nặng ở phân khúc Enterprise (âm 40.65%).</a:t>
            </a: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Năm 2014, tình trạng lỗ này đã được khắc phục hoàn toàn. Đa số lợi nhuận của các sản phẩm hiện nay đến từ phân khúc </a:t>
            </a:r>
            <a:r>
              <a:rPr lang="vi-VN" b="1" dirty="0">
                <a:solidFill>
                  <a:srgbClr val="000000"/>
                </a:solidFill>
                <a:latin typeface="Times New Roman" panose="02020603050405020304" pitchFamily="18" charset="0"/>
                <a:cs typeface="Times New Roman" panose="02020603050405020304" pitchFamily="18" charset="0"/>
              </a:rPr>
              <a:t>Government</a:t>
            </a:r>
            <a:r>
              <a:rPr lang="vi-VN" dirty="0">
                <a:solidFill>
                  <a:srgbClr val="000000"/>
                </a:solidFill>
                <a:latin typeface="Times New Roman" panose="02020603050405020304" pitchFamily="18" charset="0"/>
                <a:cs typeface="Times New Roman" panose="02020603050405020304" pitchFamily="18" charset="0"/>
              </a:rPr>
              <a:t> (chiếm từ 50% đến 70% tổng lợi nhuận).</a:t>
            </a:r>
          </a:p>
          <a:p>
            <a:pPr marL="0" indent="0">
              <a:buNone/>
            </a:pP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426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12</a:t>
            </a:fld>
            <a:endParaRPr lang="en-GB" dirty="0"/>
          </a:p>
        </p:txBody>
      </p:sp>
      <p:sp>
        <p:nvSpPr>
          <p:cNvPr id="2" name="Text Placeholder 26">
            <a:extLst>
              <a:ext uri="{FF2B5EF4-FFF2-40B4-BE49-F238E27FC236}">
                <a16:creationId xmlns:a16="http://schemas.microsoft.com/office/drawing/2014/main" id="{5C3C2E56-9698-279D-615A-A551C31AA211}"/>
              </a:ext>
            </a:extLst>
          </p:cNvPr>
          <p:cNvSpPr txBox="1">
            <a:spLocks/>
          </p:cNvSpPr>
          <p:nvPr/>
        </p:nvSpPr>
        <p:spPr>
          <a:xfrm>
            <a:off x="593323" y="595224"/>
            <a:ext cx="10991952" cy="4925682"/>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sp>
        <p:nvSpPr>
          <p:cNvPr id="11" name="Text Placeholder 26">
            <a:extLst>
              <a:ext uri="{FF2B5EF4-FFF2-40B4-BE49-F238E27FC236}">
                <a16:creationId xmlns:a16="http://schemas.microsoft.com/office/drawing/2014/main" id="{12A9E340-97DA-80C5-695D-E3CCCDBA267E}"/>
              </a:ext>
            </a:extLst>
          </p:cNvPr>
          <p:cNvSpPr txBox="1">
            <a:spLocks/>
          </p:cNvSpPr>
          <p:nvPr/>
        </p:nvSpPr>
        <p:spPr>
          <a:xfrm>
            <a:off x="365760" y="595224"/>
            <a:ext cx="10974699" cy="4070729"/>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vi-VN" sz="1600" b="1" dirty="0">
                <a:solidFill>
                  <a:srgbClr val="000000"/>
                </a:solidFill>
                <a:latin typeface="Times New Roman" panose="02020603050405020304" pitchFamily="18" charset="0"/>
                <a:cs typeface="Times New Roman" panose="02020603050405020304" pitchFamily="18" charset="0"/>
              </a:rPr>
              <a:t>2. Phân tích theo Quốc gia</a:t>
            </a:r>
          </a:p>
          <a:p>
            <a:pPr marL="0" indent="0">
              <a:buNone/>
            </a:pPr>
            <a:r>
              <a:rPr lang="vi-VN" sz="1600" dirty="0">
                <a:solidFill>
                  <a:srgbClr val="000000"/>
                </a:solidFill>
                <a:latin typeface="Times New Roman" panose="02020603050405020304" pitchFamily="18" charset="0"/>
                <a:cs typeface="Times New Roman" panose="02020603050405020304" pitchFamily="18" charset="0"/>
              </a:rPr>
              <a:t>Cơ cấu thị trường quốc tế đã chuyển dịch từ "tập trung cục bộ" sang "phân bổ đồng đều":</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Sự cân bằng thị trường:</a:t>
            </a:r>
            <a:r>
              <a:rPr lang="vi-VN" sz="1600" dirty="0">
                <a:solidFill>
                  <a:srgbClr val="000000"/>
                </a:solidFill>
                <a:latin typeface="Times New Roman" panose="02020603050405020304" pitchFamily="18" charset="0"/>
                <a:cs typeface="Times New Roman" panose="02020603050405020304" pitchFamily="18" charset="0"/>
              </a:rPr>
              <a:t> Năm 2013, mỗi sản phẩm thường có một thị trường "thống trị" (Ví dụ: Velo mạnh ở Mỹ và Đức, Amarilla mạnh ở Đức).</a:t>
            </a: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Năm 2014, biểu đồ doanh thu theo quốc gia trông "phẳng" hơn rất nhiều. Mỗi quốc gia (Canada, Pháp, Đức, Mexico, Mỹ) đều đóng góp xấp xỉ </a:t>
            </a:r>
            <a:r>
              <a:rPr lang="vi-VN" b="1" dirty="0">
                <a:solidFill>
                  <a:srgbClr val="000000"/>
                </a:solidFill>
                <a:latin typeface="Times New Roman" panose="02020603050405020304" pitchFamily="18" charset="0"/>
                <a:cs typeface="Times New Roman" panose="02020603050405020304" pitchFamily="18" charset="0"/>
              </a:rPr>
              <a:t>20% doanh thu</a:t>
            </a:r>
            <a:r>
              <a:rPr lang="vi-VN" dirty="0">
                <a:solidFill>
                  <a:srgbClr val="000000"/>
                </a:solidFill>
                <a:latin typeface="Times New Roman" panose="02020603050405020304" pitchFamily="18" charset="0"/>
                <a:cs typeface="Times New Roman" panose="02020603050405020304" pitchFamily="18" charset="0"/>
              </a:rPr>
              <a:t> cho mỗi loại sản phẩm.</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Biến động lợi nhuận:</a:t>
            </a:r>
            <a:endParaRPr lang="vi-VN" sz="1600" dirty="0">
              <a:solidFill>
                <a:srgbClr val="00000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Năm 2013, </a:t>
            </a:r>
            <a:r>
              <a:rPr lang="vi-VN" b="1" dirty="0">
                <a:solidFill>
                  <a:srgbClr val="000000"/>
                </a:solidFill>
                <a:latin typeface="Times New Roman" panose="02020603050405020304" pitchFamily="18" charset="0"/>
                <a:cs typeface="Times New Roman" panose="02020603050405020304" pitchFamily="18" charset="0"/>
              </a:rPr>
              <a:t>Đức (Germany)</a:t>
            </a:r>
            <a:r>
              <a:rPr lang="vi-VN" dirty="0">
                <a:solidFill>
                  <a:srgbClr val="000000"/>
                </a:solidFill>
                <a:latin typeface="Times New Roman" panose="02020603050405020304" pitchFamily="18" charset="0"/>
                <a:cs typeface="Times New Roman" panose="02020603050405020304" pitchFamily="18" charset="0"/>
              </a:rPr>
              <a:t> đóng góp tỷ trọng lợi nhuận rất cao cho Velo (44.31%) và Amarilla (33.39%).</a:t>
            </a:r>
          </a:p>
          <a:p>
            <a:pPr marL="742950" lvl="1" indent="-285750">
              <a:buFont typeface="Arial" panose="020B0604020202020204" pitchFamily="34" charset="0"/>
              <a:buChar char="•"/>
            </a:pPr>
            <a:r>
              <a:rPr lang="vi-VN" dirty="0">
                <a:solidFill>
                  <a:srgbClr val="000000"/>
                </a:solidFill>
                <a:latin typeface="Times New Roman" panose="02020603050405020304" pitchFamily="18" charset="0"/>
                <a:cs typeface="Times New Roman" panose="02020603050405020304" pitchFamily="18" charset="0"/>
              </a:rPr>
              <a:t>Năm 2014, lợi nhuận từ Đức vẫn tốt nhưng đã giảm tỷ trọng để nhường chỗ cho sự tăng trưởng lợi nhuận từ </a:t>
            </a:r>
            <a:r>
              <a:rPr lang="vi-VN" b="1" dirty="0">
                <a:solidFill>
                  <a:srgbClr val="000000"/>
                </a:solidFill>
                <a:latin typeface="Times New Roman" panose="02020603050405020304" pitchFamily="18" charset="0"/>
                <a:cs typeface="Times New Roman" panose="02020603050405020304" pitchFamily="18" charset="0"/>
              </a:rPr>
              <a:t>Pháp (France)</a:t>
            </a:r>
            <a:r>
              <a:rPr lang="vi-VN" dirty="0">
                <a:solidFill>
                  <a:srgbClr val="000000"/>
                </a:solidFill>
                <a:latin typeface="Times New Roman" panose="02020603050405020304" pitchFamily="18" charset="0"/>
                <a:cs typeface="Times New Roman" panose="02020603050405020304" pitchFamily="18" charset="0"/>
              </a:rPr>
              <a:t> và </a:t>
            </a:r>
            <a:r>
              <a:rPr lang="vi-VN" b="1" dirty="0">
                <a:solidFill>
                  <a:srgbClr val="000000"/>
                </a:solidFill>
                <a:latin typeface="Times New Roman" panose="02020603050405020304" pitchFamily="18" charset="0"/>
                <a:cs typeface="Times New Roman" panose="02020603050405020304" pitchFamily="18" charset="0"/>
              </a:rPr>
              <a:t>Canada</a:t>
            </a:r>
            <a:r>
              <a:rPr lang="vi-VN" dirty="0">
                <a:solidFill>
                  <a:srgbClr val="000000"/>
                </a:solidFill>
                <a:latin typeface="Times New Roman" panose="02020603050405020304" pitchFamily="18" charset="0"/>
                <a:cs typeface="Times New Roman" panose="02020603050405020304" pitchFamily="18" charset="0"/>
              </a:rPr>
              <a:t>.</a:t>
            </a:r>
          </a:p>
          <a:p>
            <a:pPr marL="0" indent="0">
              <a:buNone/>
            </a:pPr>
            <a:endParaRPr lang="vi-VN"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45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13</a:t>
            </a:fld>
            <a:endParaRPr lang="en-GB" dirty="0"/>
          </a:p>
        </p:txBody>
      </p:sp>
      <p:sp>
        <p:nvSpPr>
          <p:cNvPr id="2" name="Text Placeholder 26">
            <a:extLst>
              <a:ext uri="{FF2B5EF4-FFF2-40B4-BE49-F238E27FC236}">
                <a16:creationId xmlns:a16="http://schemas.microsoft.com/office/drawing/2014/main" id="{5C3C2E56-9698-279D-615A-A551C31AA211}"/>
              </a:ext>
            </a:extLst>
          </p:cNvPr>
          <p:cNvSpPr txBox="1">
            <a:spLocks/>
          </p:cNvSpPr>
          <p:nvPr/>
        </p:nvSpPr>
        <p:spPr>
          <a:xfrm>
            <a:off x="593323" y="595224"/>
            <a:ext cx="10991952" cy="4925682"/>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sp>
        <p:nvSpPr>
          <p:cNvPr id="11" name="Text Placeholder 26">
            <a:extLst>
              <a:ext uri="{FF2B5EF4-FFF2-40B4-BE49-F238E27FC236}">
                <a16:creationId xmlns:a16="http://schemas.microsoft.com/office/drawing/2014/main" id="{12A9E340-97DA-80C5-695D-E3CCCDBA267E}"/>
              </a:ext>
            </a:extLst>
          </p:cNvPr>
          <p:cNvSpPr txBox="1">
            <a:spLocks/>
          </p:cNvSpPr>
          <p:nvPr/>
        </p:nvSpPr>
        <p:spPr>
          <a:xfrm>
            <a:off x="283119" y="3711385"/>
            <a:ext cx="10165022" cy="1871511"/>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vi-VN" sz="1600" b="1" dirty="0">
                <a:solidFill>
                  <a:srgbClr val="000000"/>
                </a:solidFill>
                <a:latin typeface="Times New Roman" panose="02020603050405020304" pitchFamily="18" charset="0"/>
                <a:cs typeface="Times New Roman" panose="02020603050405020304" pitchFamily="18" charset="0"/>
              </a:rPr>
              <a:t>Nhận xét chung:</a:t>
            </a:r>
          </a:p>
          <a:p>
            <a:pPr marL="0" indent="0">
              <a:buNone/>
            </a:pPr>
            <a:r>
              <a:rPr lang="vi-VN" sz="1600" dirty="0">
                <a:solidFill>
                  <a:srgbClr val="000000"/>
                </a:solidFill>
                <a:latin typeface="Times New Roman" panose="02020603050405020304" pitchFamily="18" charset="0"/>
                <a:cs typeface="Times New Roman" panose="02020603050405020304" pitchFamily="18" charset="0"/>
              </a:rPr>
              <a:t>Năm 2014 cho thấy một sự chuyển dịch chiến lược sang mô hình </a:t>
            </a:r>
            <a:r>
              <a:rPr lang="vi-VN" sz="1600" b="1" dirty="0">
                <a:solidFill>
                  <a:srgbClr val="000000"/>
                </a:solidFill>
                <a:latin typeface="Times New Roman" panose="02020603050405020304" pitchFamily="18" charset="0"/>
                <a:cs typeface="Times New Roman" panose="02020603050405020304" pitchFamily="18" charset="0"/>
              </a:rPr>
              <a:t>ổn định và ít rủi ro hơn</a:t>
            </a:r>
            <a:r>
              <a:rPr lang="vi-VN" sz="1600" dirty="0">
                <a:solidFill>
                  <a:srgbClr val="000000"/>
                </a:solidFill>
                <a:latin typeface="Times New Roman" panose="02020603050405020304" pitchFamily="18" charset="0"/>
                <a:cs typeface="Times New Roman" panose="02020603050405020304" pitchFamily="18" charset="0"/>
              </a:rPr>
              <a:t>. Việc không còn những khoảng lỗ lớn (như Carretera năm 2013) và việc dàn đều doanh thu ở 5 quốc gia cho thấy doanh nghiệp đã tối ưu hóa quy trình vận hành và chính sách giá trên toàn cầu.</a:t>
            </a:r>
          </a:p>
          <a:p>
            <a:pPr marL="0" indent="0">
              <a:buNone/>
            </a:pPr>
            <a:endParaRPr lang="vi-VN" dirty="0">
              <a:solidFill>
                <a:srgbClr val="000000"/>
              </a:solidFill>
              <a:latin typeface="+mj-lt"/>
            </a:endParaRPr>
          </a:p>
        </p:txBody>
      </p:sp>
      <p:graphicFrame>
        <p:nvGraphicFramePr>
          <p:cNvPr id="4" name="Table 3">
            <a:extLst>
              <a:ext uri="{FF2B5EF4-FFF2-40B4-BE49-F238E27FC236}">
                <a16:creationId xmlns:a16="http://schemas.microsoft.com/office/drawing/2014/main" id="{7F3F9FFF-C5F5-B59E-FB2F-BCD14869143C}"/>
              </a:ext>
            </a:extLst>
          </p:cNvPr>
          <p:cNvGraphicFramePr>
            <a:graphicFrameLocks noGrp="1"/>
          </p:cNvGraphicFramePr>
          <p:nvPr>
            <p:extLst>
              <p:ext uri="{D42A27DB-BD31-4B8C-83A1-F6EECF244321}">
                <p14:modId xmlns:p14="http://schemas.microsoft.com/office/powerpoint/2010/main" val="2373509769"/>
              </p:ext>
            </p:extLst>
          </p:nvPr>
        </p:nvGraphicFramePr>
        <p:xfrm>
          <a:off x="365760" y="595224"/>
          <a:ext cx="10165023" cy="2687320"/>
        </p:xfrm>
        <a:graphic>
          <a:graphicData uri="http://schemas.openxmlformats.org/drawingml/2006/table">
            <a:tbl>
              <a:tblPr firstRow="1" bandRow="1">
                <a:tableStyleId>{073A0DAA-6AF3-43AB-8588-CEC1D06C72B9}</a:tableStyleId>
              </a:tblPr>
              <a:tblGrid>
                <a:gridCol w="3388341">
                  <a:extLst>
                    <a:ext uri="{9D8B030D-6E8A-4147-A177-3AD203B41FA5}">
                      <a16:colId xmlns:a16="http://schemas.microsoft.com/office/drawing/2014/main" val="2704648502"/>
                    </a:ext>
                  </a:extLst>
                </a:gridCol>
                <a:gridCol w="3388341">
                  <a:extLst>
                    <a:ext uri="{9D8B030D-6E8A-4147-A177-3AD203B41FA5}">
                      <a16:colId xmlns:a16="http://schemas.microsoft.com/office/drawing/2014/main" val="474243912"/>
                    </a:ext>
                  </a:extLst>
                </a:gridCol>
                <a:gridCol w="3388341">
                  <a:extLst>
                    <a:ext uri="{9D8B030D-6E8A-4147-A177-3AD203B41FA5}">
                      <a16:colId xmlns:a16="http://schemas.microsoft.com/office/drawing/2014/main" val="1000387130"/>
                    </a:ext>
                  </a:extLst>
                </a:gridCol>
              </a:tblGrid>
              <a:tr h="370840">
                <a:tc>
                  <a:txBody>
                    <a:bodyPr/>
                    <a:lstStyle/>
                    <a:p>
                      <a:pPr algn="ctr"/>
                      <a:r>
                        <a:rPr lang="en-GB" sz="1600" dirty="0" err="1">
                          <a:solidFill>
                            <a:srgbClr val="000000"/>
                          </a:solidFill>
                          <a:latin typeface="Times New Roman" panose="02020603050405020304" pitchFamily="18" charset="0"/>
                          <a:cs typeface="Times New Roman" panose="02020603050405020304" pitchFamily="18" charset="0"/>
                        </a:rPr>
                        <a:t>Chỉ</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số</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r>
                        <a:rPr lang="en-GB" sz="1600" dirty="0" err="1">
                          <a:solidFill>
                            <a:srgbClr val="000000"/>
                          </a:solidFill>
                          <a:latin typeface="Times New Roman" panose="02020603050405020304" pitchFamily="18" charset="0"/>
                          <a:cs typeface="Times New Roman" panose="02020603050405020304" pitchFamily="18" charset="0"/>
                        </a:rPr>
                        <a:t>Năm</a:t>
                      </a:r>
                      <a:r>
                        <a:rPr lang="en-GB" sz="1600" dirty="0">
                          <a:solidFill>
                            <a:srgbClr val="000000"/>
                          </a:solidFill>
                          <a:latin typeface="Times New Roman" panose="02020603050405020304" pitchFamily="18" charset="0"/>
                          <a:cs typeface="Times New Roman" panose="02020603050405020304" pitchFamily="18" charset="0"/>
                        </a:rPr>
                        <a:t> 2013</a:t>
                      </a:r>
                    </a:p>
                  </a:txBody>
                  <a:tcPr/>
                </a:tc>
                <a:tc>
                  <a:txBody>
                    <a:bodyPr/>
                    <a:lstStyle/>
                    <a:p>
                      <a:pPr algn="ctr"/>
                      <a:r>
                        <a:rPr lang="en-GB" sz="1600" dirty="0" err="1">
                          <a:solidFill>
                            <a:srgbClr val="000000"/>
                          </a:solidFill>
                          <a:latin typeface="Times New Roman" panose="02020603050405020304" pitchFamily="18" charset="0"/>
                          <a:cs typeface="Times New Roman" panose="02020603050405020304" pitchFamily="18" charset="0"/>
                        </a:rPr>
                        <a:t>Năm</a:t>
                      </a:r>
                      <a:r>
                        <a:rPr lang="en-GB" sz="1600" dirty="0">
                          <a:solidFill>
                            <a:srgbClr val="000000"/>
                          </a:solidFill>
                          <a:latin typeface="Times New Roman" panose="02020603050405020304" pitchFamily="18" charset="0"/>
                          <a:cs typeface="Times New Roman" panose="02020603050405020304" pitchFamily="18" charset="0"/>
                        </a:rPr>
                        <a:t> 2014</a:t>
                      </a:r>
                    </a:p>
                  </a:txBody>
                  <a:tcPr/>
                </a:tc>
                <a:extLst>
                  <a:ext uri="{0D108BD9-81ED-4DB2-BD59-A6C34878D82A}">
                    <a16:rowId xmlns:a16="http://schemas.microsoft.com/office/drawing/2014/main" val="1316052452"/>
                  </a:ext>
                </a:extLst>
              </a:tr>
              <a:tr h="370840">
                <a:tc>
                  <a:txBody>
                    <a:bodyPr/>
                    <a:lstStyle/>
                    <a:p>
                      <a:r>
                        <a:rPr lang="vi-VN" sz="1600" dirty="0">
                          <a:solidFill>
                            <a:srgbClr val="000000"/>
                          </a:solidFill>
                          <a:latin typeface="Times New Roman" panose="02020603050405020304" pitchFamily="18" charset="0"/>
                          <a:cs typeface="Times New Roman" panose="02020603050405020304" pitchFamily="18" charset="0"/>
                        </a:rPr>
                        <a:t>Chiến lược bán hàng</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Tập</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trung</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vào</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một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vài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phân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khúc</a:t>
                      </a:r>
                      <a:r>
                        <a:rPr lang="en-GB" sz="1600" dirty="0">
                          <a:solidFill>
                            <a:srgbClr val="000000"/>
                          </a:solidFill>
                          <a:latin typeface="Times New Roman" panose="02020603050405020304" pitchFamily="18" charset="0"/>
                          <a:cs typeface="Times New Roman" panose="02020603050405020304" pitchFamily="18" charset="0"/>
                        </a:rPr>
                        <a:t>/</a:t>
                      </a:r>
                      <a:r>
                        <a:rPr lang="en-GB" sz="1600" dirty="0" err="1">
                          <a:solidFill>
                            <a:srgbClr val="000000"/>
                          </a:solidFill>
                          <a:latin typeface="Times New Roman" panose="02020603050405020304" pitchFamily="18" charset="0"/>
                          <a:cs typeface="Times New Roman" panose="02020603050405020304" pitchFamily="18" charset="0"/>
                        </a:rPr>
                        <a:t>quốc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gia</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mũi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nhọn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vi-VN" sz="1600" dirty="0">
                          <a:solidFill>
                            <a:srgbClr val="000000"/>
                          </a:solidFill>
                          <a:latin typeface="Times New Roman" panose="02020603050405020304" pitchFamily="18" charset="0"/>
                          <a:cs typeface="Times New Roman" panose="02020603050405020304" pitchFamily="18" charset="0"/>
                        </a:rPr>
                        <a:t>Dàn trải đều, giảm thiểu rủi ro phụ thuộc vào một thị trường.</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44113437"/>
                  </a:ext>
                </a:extLst>
              </a:tr>
              <a:tr h="370840">
                <a:tc>
                  <a:txBody>
                    <a:bodyPr/>
                    <a:lstStyle/>
                    <a:p>
                      <a:r>
                        <a:rPr lang="en-GB" sz="1600" dirty="0" err="1">
                          <a:solidFill>
                            <a:srgbClr val="000000"/>
                          </a:solidFill>
                          <a:latin typeface="Times New Roman" panose="02020603050405020304" pitchFamily="18" charset="0"/>
                          <a:cs typeface="Times New Roman" panose="02020603050405020304" pitchFamily="18" charset="0"/>
                        </a:rPr>
                        <a:t>Sản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phẩm</a:t>
                      </a:r>
                      <a:r>
                        <a:rPr lang="en-GB" sz="1600" dirty="0">
                          <a:solidFill>
                            <a:srgbClr val="000000"/>
                          </a:solidFill>
                          <a:latin typeface="Times New Roman" panose="02020603050405020304" pitchFamily="18" charset="0"/>
                          <a:cs typeface="Times New Roman" panose="02020603050405020304" pitchFamily="18" charset="0"/>
                        </a:rPr>
                        <a:t> Carretera</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Gặp</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vấn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đề</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lớn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về</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lỗ</a:t>
                      </a:r>
                      <a:r>
                        <a:rPr lang="en-GB" sz="1600" dirty="0">
                          <a:solidFill>
                            <a:srgbClr val="000000"/>
                          </a:solidFill>
                          <a:latin typeface="Times New Roman" panose="02020603050405020304" pitchFamily="18" charset="0"/>
                          <a:cs typeface="Times New Roman" panose="02020603050405020304" pitchFamily="18" charset="0"/>
                        </a:rPr>
                        <a:t> ở </a:t>
                      </a:r>
                      <a:r>
                        <a:rPr lang="en-GB" sz="1600" dirty="0" err="1">
                          <a:solidFill>
                            <a:srgbClr val="000000"/>
                          </a:solidFill>
                          <a:latin typeface="Times New Roman" panose="02020603050405020304" pitchFamily="18" charset="0"/>
                          <a:cs typeface="Times New Roman" panose="02020603050405020304" pitchFamily="18" charset="0"/>
                        </a:rPr>
                        <a:t>mảng</a:t>
                      </a:r>
                      <a:r>
                        <a:rPr lang="en-GB" sz="1600" dirty="0">
                          <a:solidFill>
                            <a:srgbClr val="000000"/>
                          </a:solidFill>
                          <a:latin typeface="Times New Roman" panose="02020603050405020304" pitchFamily="18" charset="0"/>
                          <a:cs typeface="Times New Roman" panose="02020603050405020304" pitchFamily="18" charset="0"/>
                        </a:rPr>
                        <a:t> Enterprise).</a:t>
                      </a:r>
                    </a:p>
                  </a:txBody>
                  <a:tcPr/>
                </a:tc>
                <a:tc>
                  <a:txBody>
                    <a:bodyPr/>
                    <a:lstStyle/>
                    <a:p>
                      <a:r>
                        <a:rPr lang="vi-VN" sz="1600" dirty="0">
                          <a:solidFill>
                            <a:srgbClr val="000000"/>
                          </a:solidFill>
                          <a:latin typeface="Times New Roman" panose="02020603050405020304" pitchFamily="18" charset="0"/>
                          <a:cs typeface="Times New Roman" panose="02020603050405020304" pitchFamily="18" charset="0"/>
                        </a:rPr>
                        <a:t>Đã tối ưu hóa và có lãi ổn định ở tất cả phân khúc.</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6165395"/>
                  </a:ext>
                </a:extLst>
              </a:tr>
              <a:tr h="370840">
                <a:tc>
                  <a:txBody>
                    <a:bodyPr/>
                    <a:lstStyle/>
                    <a:p>
                      <a:r>
                        <a:rPr lang="en-GB" sz="1600" dirty="0" err="1">
                          <a:solidFill>
                            <a:srgbClr val="000000"/>
                          </a:solidFill>
                          <a:latin typeface="Times New Roman" panose="02020603050405020304" pitchFamily="18" charset="0"/>
                          <a:cs typeface="Times New Roman" panose="02020603050405020304" pitchFamily="18" charset="0"/>
                        </a:rPr>
                        <a:t>Phân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khúc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chủ</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lực</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Phụ</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thuộc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nhiều</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vào</a:t>
                      </a:r>
                      <a:r>
                        <a:rPr lang="en-GB" sz="1600" dirty="0">
                          <a:solidFill>
                            <a:srgbClr val="000000"/>
                          </a:solidFill>
                          <a:latin typeface="Times New Roman" panose="02020603050405020304" pitchFamily="18" charset="0"/>
                          <a:cs typeface="Times New Roman" panose="02020603050405020304" pitchFamily="18" charset="0"/>
                        </a:rPr>
                        <a:t> Enterprise </a:t>
                      </a:r>
                      <a:r>
                        <a:rPr lang="en-GB" sz="1600" dirty="0" err="1">
                          <a:solidFill>
                            <a:srgbClr val="000000"/>
                          </a:solidFill>
                          <a:latin typeface="Times New Roman" panose="02020603050405020304" pitchFamily="18" charset="0"/>
                          <a:cs typeface="Times New Roman" panose="02020603050405020304" pitchFamily="18" charset="0"/>
                        </a:rPr>
                        <a:t>và</a:t>
                      </a:r>
                      <a:r>
                        <a:rPr lang="en-GB" sz="1600" dirty="0">
                          <a:solidFill>
                            <a:srgbClr val="000000"/>
                          </a:solidFill>
                          <a:latin typeface="Times New Roman" panose="02020603050405020304" pitchFamily="18" charset="0"/>
                          <a:cs typeface="Times New Roman" panose="02020603050405020304" pitchFamily="18" charset="0"/>
                        </a:rPr>
                        <a:t> Small Business </a:t>
                      </a:r>
                      <a:r>
                        <a:rPr lang="en-GB" sz="1600" dirty="0" err="1">
                          <a:solidFill>
                            <a:srgbClr val="000000"/>
                          </a:solidFill>
                          <a:latin typeface="Times New Roman" panose="02020603050405020304" pitchFamily="18" charset="0"/>
                          <a:cs typeface="Times New Roman" panose="02020603050405020304" pitchFamily="18" charset="0"/>
                        </a:rPr>
                        <a:t>tùy</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sản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phẩm</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Tập</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trung</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hóa</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vào</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phân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khúc</a:t>
                      </a:r>
                      <a:r>
                        <a:rPr lang="en-GB" sz="1600" dirty="0">
                          <a:solidFill>
                            <a:srgbClr val="000000"/>
                          </a:solidFill>
                          <a:latin typeface="Times New Roman" panose="02020603050405020304" pitchFamily="18" charset="0"/>
                          <a:cs typeface="Times New Roman" panose="02020603050405020304" pitchFamily="18" charset="0"/>
                        </a:rPr>
                        <a:t> </a:t>
                      </a:r>
                      <a:r>
                        <a:rPr lang="en-GB" sz="1600" b="1" dirty="0">
                          <a:solidFill>
                            <a:srgbClr val="000000"/>
                          </a:solidFill>
                          <a:latin typeface="Times New Roman" panose="02020603050405020304" pitchFamily="18" charset="0"/>
                          <a:cs typeface="Times New Roman" panose="02020603050405020304" pitchFamily="18" charset="0"/>
                        </a:rPr>
                        <a:t>Government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làm</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trụ</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cột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564152395"/>
                  </a:ext>
                </a:extLst>
              </a:tr>
              <a:tr h="370840">
                <a:tc>
                  <a:txBody>
                    <a:bodyPr/>
                    <a:lstStyle/>
                    <a:p>
                      <a:r>
                        <a:rPr lang="vi-VN" sz="1600" dirty="0">
                          <a:solidFill>
                            <a:srgbClr val="000000"/>
                          </a:solidFill>
                          <a:latin typeface="Times New Roman" panose="02020603050405020304" pitchFamily="18" charset="0"/>
                          <a:cs typeface="Times New Roman" panose="02020603050405020304" pitchFamily="18" charset="0"/>
                        </a:rPr>
                        <a:t>Thị trường quốc gia</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vi-VN" sz="1600" dirty="0">
                          <a:solidFill>
                            <a:srgbClr val="000000"/>
                          </a:solidFill>
                          <a:latin typeface="Times New Roman" panose="02020603050405020304" pitchFamily="18" charset="0"/>
                          <a:cs typeface="Times New Roman" panose="02020603050405020304" pitchFamily="18" charset="0"/>
                        </a:rPr>
                        <a:t>Có sự chênh lệch lớn giữa các nước.</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vi-VN" sz="1600" dirty="0">
                          <a:solidFill>
                            <a:srgbClr val="000000"/>
                          </a:solidFill>
                          <a:latin typeface="Times New Roman" panose="02020603050405020304" pitchFamily="18" charset="0"/>
                          <a:cs typeface="Times New Roman" panose="02020603050405020304" pitchFamily="18" charset="0"/>
                        </a:rPr>
                        <a:t>Phân bổ gần như bằng nhau (20% mỗi nước).</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5411948"/>
                  </a:ext>
                </a:extLst>
              </a:tr>
            </a:tbl>
          </a:graphicData>
        </a:graphic>
      </p:graphicFrame>
      <p:sp>
        <p:nvSpPr>
          <p:cNvPr id="5" name="TextBox 4">
            <a:extLst>
              <a:ext uri="{FF2B5EF4-FFF2-40B4-BE49-F238E27FC236}">
                <a16:creationId xmlns:a16="http://schemas.microsoft.com/office/drawing/2014/main" id="{9DDADCA6-9848-FDA1-39D7-3F5DFA136295}"/>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3. </a:t>
            </a:r>
            <a:r>
              <a:rPr lang="en-US" b="1" dirty="0" err="1">
                <a:solidFill>
                  <a:srgbClr val="000000"/>
                </a:solidFill>
                <a:latin typeface="Times New Roman" panose="02020603050405020304" pitchFamily="18" charset="0"/>
                <a:cs typeface="Times New Roman" panose="02020603050405020304" pitchFamily="18" charset="0"/>
              </a:rPr>
              <a:t>Đánh</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giá</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sự</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khác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biệt</a:t>
            </a:r>
            <a:r>
              <a:rPr lang="en-US" b="1" dirty="0">
                <a:solidFill>
                  <a:srgbClr val="000000"/>
                </a:solidFill>
                <a:latin typeface="Times New Roman" panose="02020603050405020304" pitchFamily="18" charset="0"/>
                <a:cs typeface="Times New Roman" panose="02020603050405020304" pitchFamily="18" charset="0"/>
              </a:rPr>
              <a:t> qua </a:t>
            </a:r>
            <a:r>
              <a:rPr lang="en-US" b="1" dirty="0" err="1">
                <a:solidFill>
                  <a:srgbClr val="000000"/>
                </a:solidFill>
                <a:latin typeface="Times New Roman" panose="02020603050405020304" pitchFamily="18" charset="0"/>
                <a:cs typeface="Times New Roman" panose="02020603050405020304" pitchFamily="18" charset="0"/>
              </a:rPr>
              <a:t>các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năm</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433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14</a:t>
            </a:fld>
            <a:endParaRPr lang="en-GB" dirty="0"/>
          </a:p>
        </p:txBody>
      </p:sp>
      <p:sp>
        <p:nvSpPr>
          <p:cNvPr id="2" name="Text Placeholder 26">
            <a:extLst>
              <a:ext uri="{FF2B5EF4-FFF2-40B4-BE49-F238E27FC236}">
                <a16:creationId xmlns:a16="http://schemas.microsoft.com/office/drawing/2014/main" id="{5C3C2E56-9698-279D-615A-A551C31AA211}"/>
              </a:ext>
            </a:extLst>
          </p:cNvPr>
          <p:cNvSpPr txBox="1">
            <a:spLocks/>
          </p:cNvSpPr>
          <p:nvPr/>
        </p:nvSpPr>
        <p:spPr>
          <a:xfrm>
            <a:off x="593323" y="595224"/>
            <a:ext cx="10991952" cy="4925682"/>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sp>
        <p:nvSpPr>
          <p:cNvPr id="11" name="Text Placeholder 26">
            <a:extLst>
              <a:ext uri="{FF2B5EF4-FFF2-40B4-BE49-F238E27FC236}">
                <a16:creationId xmlns:a16="http://schemas.microsoft.com/office/drawing/2014/main" id="{12A9E340-97DA-80C5-695D-E3CCCDBA267E}"/>
              </a:ext>
            </a:extLst>
          </p:cNvPr>
          <p:cNvSpPr txBox="1">
            <a:spLocks/>
          </p:cNvSpPr>
          <p:nvPr/>
        </p:nvSpPr>
        <p:spPr>
          <a:xfrm>
            <a:off x="862642" y="3847381"/>
            <a:ext cx="10165022" cy="1871511"/>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graphicFrame>
        <p:nvGraphicFramePr>
          <p:cNvPr id="3" name="Table 2">
            <a:extLst>
              <a:ext uri="{FF2B5EF4-FFF2-40B4-BE49-F238E27FC236}">
                <a16:creationId xmlns:a16="http://schemas.microsoft.com/office/drawing/2014/main" id="{F811A82B-C174-85B4-CA0F-9D8950D22FA7}"/>
              </a:ext>
            </a:extLst>
          </p:cNvPr>
          <p:cNvGraphicFramePr>
            <a:graphicFrameLocks noGrp="1"/>
          </p:cNvGraphicFramePr>
          <p:nvPr>
            <p:extLst>
              <p:ext uri="{D42A27DB-BD31-4B8C-83A1-F6EECF244321}">
                <p14:modId xmlns:p14="http://schemas.microsoft.com/office/powerpoint/2010/main" val="218432503"/>
              </p:ext>
            </p:extLst>
          </p:nvPr>
        </p:nvGraphicFramePr>
        <p:xfrm>
          <a:off x="365760" y="595224"/>
          <a:ext cx="10165023" cy="2573676"/>
        </p:xfrm>
        <a:graphic>
          <a:graphicData uri="http://schemas.openxmlformats.org/drawingml/2006/table">
            <a:tbl>
              <a:tblPr firstRow="1" bandRow="1">
                <a:tableStyleId>{073A0DAA-6AF3-43AB-8588-CEC1D06C72B9}</a:tableStyleId>
              </a:tblPr>
              <a:tblGrid>
                <a:gridCol w="3388341">
                  <a:extLst>
                    <a:ext uri="{9D8B030D-6E8A-4147-A177-3AD203B41FA5}">
                      <a16:colId xmlns:a16="http://schemas.microsoft.com/office/drawing/2014/main" val="656639847"/>
                    </a:ext>
                  </a:extLst>
                </a:gridCol>
                <a:gridCol w="3388341">
                  <a:extLst>
                    <a:ext uri="{9D8B030D-6E8A-4147-A177-3AD203B41FA5}">
                      <a16:colId xmlns:a16="http://schemas.microsoft.com/office/drawing/2014/main" val="450842613"/>
                    </a:ext>
                  </a:extLst>
                </a:gridCol>
                <a:gridCol w="3388341">
                  <a:extLst>
                    <a:ext uri="{9D8B030D-6E8A-4147-A177-3AD203B41FA5}">
                      <a16:colId xmlns:a16="http://schemas.microsoft.com/office/drawing/2014/main" val="242507315"/>
                    </a:ext>
                  </a:extLst>
                </a:gridCol>
              </a:tblGrid>
              <a:tr h="367668">
                <a:tc>
                  <a:txBody>
                    <a:bodyPr/>
                    <a:lstStyle/>
                    <a:p>
                      <a:pPr algn="ctr"/>
                      <a:r>
                        <a:rPr lang="en-GB" sz="1600" dirty="0" err="1">
                          <a:solidFill>
                            <a:srgbClr val="000000"/>
                          </a:solidFill>
                          <a:latin typeface="Times New Roman" panose="02020603050405020304" pitchFamily="18" charset="0"/>
                          <a:cs typeface="Times New Roman" panose="02020603050405020304" pitchFamily="18" charset="0"/>
                        </a:rPr>
                        <a:t>Sản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phẩm</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r>
                        <a:rPr lang="en-GB" sz="1600" dirty="0" err="1">
                          <a:solidFill>
                            <a:srgbClr val="000000"/>
                          </a:solidFill>
                          <a:latin typeface="Times New Roman" panose="02020603050405020304" pitchFamily="18" charset="0"/>
                          <a:cs typeface="Times New Roman" panose="02020603050405020304" pitchFamily="18" charset="0"/>
                        </a:rPr>
                        <a:t>Phân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khúc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khách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hàng</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mục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tiêu</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r>
                        <a:rPr lang="vi-VN" sz="1600" dirty="0">
                          <a:solidFill>
                            <a:srgbClr val="000000"/>
                          </a:solidFill>
                          <a:latin typeface="Times New Roman" panose="02020603050405020304" pitchFamily="18" charset="0"/>
                          <a:cs typeface="Times New Roman" panose="02020603050405020304" pitchFamily="18" charset="0"/>
                        </a:rPr>
                        <a:t>Thị trường trọng điểm</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8959995"/>
                  </a:ext>
                </a:extLst>
              </a:tr>
              <a:tr h="367668">
                <a:tc>
                  <a:txBody>
                    <a:bodyPr/>
                    <a:lstStyle/>
                    <a:p>
                      <a:r>
                        <a:rPr lang="en-GB" sz="1600" dirty="0">
                          <a:solidFill>
                            <a:srgbClr val="000000"/>
                          </a:solidFill>
                          <a:latin typeface="Times New Roman" panose="02020603050405020304" pitchFamily="18" charset="0"/>
                          <a:cs typeface="Times New Roman" panose="02020603050405020304" pitchFamily="18" charset="0"/>
                        </a:rPr>
                        <a:t>Velo</a:t>
                      </a:r>
                    </a:p>
                  </a:txBody>
                  <a:tcPr/>
                </a:tc>
                <a:tc>
                  <a:txBody>
                    <a:bodyPr/>
                    <a:lstStyle/>
                    <a:p>
                      <a:r>
                        <a:rPr lang="en-US" sz="1600" dirty="0" err="1">
                          <a:solidFill>
                            <a:srgbClr val="000000"/>
                          </a:solidFill>
                          <a:latin typeface="Times New Roman" panose="02020603050405020304" pitchFamily="18" charset="0"/>
                          <a:cs typeface="Times New Roman" panose="02020603050405020304" pitchFamily="18" charset="0"/>
                        </a:rPr>
                        <a:t>Đa</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dạng</a:t>
                      </a:r>
                      <a:r>
                        <a:rPr lang="en-US" sz="1600" dirty="0">
                          <a:solidFill>
                            <a:srgbClr val="000000"/>
                          </a:solidFill>
                          <a:latin typeface="Times New Roman" panose="02020603050405020304" pitchFamily="18" charset="0"/>
                          <a:cs typeface="Times New Roman" panose="02020603050405020304" pitchFamily="18" charset="0"/>
                        </a:rPr>
                        <a:t> (Government &amp; Small Biz)</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Rất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cân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bằng</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Toàn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cầu</a:t>
                      </a:r>
                      <a:r>
                        <a:rPr lang="en-GB" sz="1600" dirty="0">
                          <a:solidFill>
                            <a:srgbClr val="000000"/>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92137436"/>
                  </a:ext>
                </a:extLst>
              </a:tr>
              <a:tr h="367668">
                <a:tc>
                  <a:txBody>
                    <a:bodyPr/>
                    <a:lstStyle/>
                    <a:p>
                      <a:r>
                        <a:rPr lang="en-GB" sz="1600" dirty="0" err="1">
                          <a:solidFill>
                            <a:srgbClr val="000000"/>
                          </a:solidFill>
                          <a:latin typeface="Times New Roman" panose="02020603050405020304" pitchFamily="18" charset="0"/>
                          <a:cs typeface="Times New Roman" panose="02020603050405020304" pitchFamily="18" charset="0"/>
                        </a:rPr>
                        <a:t>Paseo</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Chính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phủ</a:t>
                      </a:r>
                      <a:r>
                        <a:rPr lang="en-GB" sz="1600" dirty="0">
                          <a:solidFill>
                            <a:srgbClr val="000000"/>
                          </a:solidFill>
                          <a:latin typeface="Times New Roman" panose="02020603050405020304" pitchFamily="18" charset="0"/>
                          <a:cs typeface="Times New Roman" panose="02020603050405020304" pitchFamily="18" charset="0"/>
                        </a:rPr>
                        <a:t> (59% </a:t>
                      </a:r>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Mạnh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tại</a:t>
                      </a:r>
                      <a:r>
                        <a:rPr lang="en-GB" sz="1600" dirty="0">
                          <a:solidFill>
                            <a:srgbClr val="000000"/>
                          </a:solidFill>
                          <a:latin typeface="Times New Roman" panose="02020603050405020304" pitchFamily="18" charset="0"/>
                          <a:cs typeface="Times New Roman" panose="02020603050405020304" pitchFamily="18" charset="0"/>
                        </a:rPr>
                        <a:t> Canada &amp; Mexico</a:t>
                      </a:r>
                    </a:p>
                  </a:txBody>
                  <a:tcPr/>
                </a:tc>
                <a:extLst>
                  <a:ext uri="{0D108BD9-81ED-4DB2-BD59-A6C34878D82A}">
                    <a16:rowId xmlns:a16="http://schemas.microsoft.com/office/drawing/2014/main" val="3180962863"/>
                  </a:ext>
                </a:extLst>
              </a:tr>
              <a:tr h="367668">
                <a:tc>
                  <a:txBody>
                    <a:bodyPr/>
                    <a:lstStyle/>
                    <a:p>
                      <a:r>
                        <a:rPr lang="en-GB" sz="1600" dirty="0">
                          <a:solidFill>
                            <a:srgbClr val="000000"/>
                          </a:solidFill>
                          <a:latin typeface="Times New Roman" panose="02020603050405020304" pitchFamily="18" charset="0"/>
                          <a:cs typeface="Times New Roman" panose="02020603050405020304" pitchFamily="18" charset="0"/>
                        </a:rPr>
                        <a:t>Carretera</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Chính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phủ</a:t>
                      </a:r>
                      <a:r>
                        <a:rPr lang="en-GB" sz="1600" dirty="0">
                          <a:solidFill>
                            <a:srgbClr val="000000"/>
                          </a:solidFill>
                          <a:latin typeface="Times New Roman" panose="02020603050405020304" pitchFamily="18" charset="0"/>
                          <a:cs typeface="Times New Roman" panose="02020603050405020304" pitchFamily="18" charset="0"/>
                        </a:rPr>
                        <a:t> (66% </a:t>
                      </a:r>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Mạnh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tại</a:t>
                      </a:r>
                      <a:r>
                        <a:rPr lang="en-GB" sz="1600" dirty="0">
                          <a:solidFill>
                            <a:srgbClr val="000000"/>
                          </a:solidFill>
                          <a:latin typeface="Times New Roman" panose="02020603050405020304" pitchFamily="18" charset="0"/>
                          <a:cs typeface="Times New Roman" panose="02020603050405020304" pitchFamily="18" charset="0"/>
                        </a:rPr>
                        <a:t> Canada &amp; </a:t>
                      </a:r>
                      <a:r>
                        <a:rPr lang="en-GB" sz="1600" dirty="0" err="1">
                          <a:solidFill>
                            <a:srgbClr val="000000"/>
                          </a:solidFill>
                          <a:latin typeface="Times New Roman" panose="02020603050405020304" pitchFamily="18" charset="0"/>
                          <a:cs typeface="Times New Roman" panose="02020603050405020304" pitchFamily="18" charset="0"/>
                        </a:rPr>
                        <a:t>Pháp</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057751"/>
                  </a:ext>
                </a:extLst>
              </a:tr>
              <a:tr h="367668">
                <a:tc>
                  <a:txBody>
                    <a:bodyPr/>
                    <a:lstStyle/>
                    <a:p>
                      <a:r>
                        <a:rPr lang="en-GB" sz="1600" dirty="0">
                          <a:solidFill>
                            <a:srgbClr val="000000"/>
                          </a:solidFill>
                          <a:latin typeface="Times New Roman" panose="02020603050405020304" pitchFamily="18" charset="0"/>
                          <a:cs typeface="Times New Roman" panose="02020603050405020304" pitchFamily="18" charset="0"/>
                        </a:rPr>
                        <a:t>Amarilla</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Chính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phủ</a:t>
                      </a:r>
                      <a:r>
                        <a:rPr lang="en-GB" sz="1600" dirty="0">
                          <a:solidFill>
                            <a:srgbClr val="000000"/>
                          </a:solidFill>
                          <a:latin typeface="Times New Roman" panose="02020603050405020304" pitchFamily="18" charset="0"/>
                          <a:cs typeface="Times New Roman" panose="02020603050405020304" pitchFamily="18" charset="0"/>
                        </a:rPr>
                        <a:t> (69% </a:t>
                      </a:r>
                      <a:r>
                        <a:rPr lang="en-GB" sz="1600" dirty="0" err="1">
                          <a:solidFill>
                            <a:srgbClr val="000000"/>
                          </a:solidFill>
                          <a:latin typeface="Times New Roman" panose="02020603050405020304" pitchFamily="18" charset="0"/>
                          <a:cs typeface="Times New Roman" panose="02020603050405020304" pitchFamily="18" charset="0"/>
                        </a:rPr>
                        <a:t>lợi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nhuận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Mạnh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tại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Đức</a:t>
                      </a:r>
                      <a:r>
                        <a:rPr lang="en-GB" sz="1600" dirty="0">
                          <a:solidFill>
                            <a:srgbClr val="000000"/>
                          </a:solidFill>
                          <a:latin typeface="Times New Roman" panose="02020603050405020304" pitchFamily="18" charset="0"/>
                          <a:cs typeface="Times New Roman" panose="02020603050405020304" pitchFamily="18" charset="0"/>
                        </a:rPr>
                        <a:t> &amp; </a:t>
                      </a:r>
                      <a:r>
                        <a:rPr lang="en-GB" sz="1600" dirty="0" err="1">
                          <a:solidFill>
                            <a:srgbClr val="000000"/>
                          </a:solidFill>
                          <a:latin typeface="Times New Roman" panose="02020603050405020304" pitchFamily="18" charset="0"/>
                          <a:cs typeface="Times New Roman" panose="02020603050405020304" pitchFamily="18" charset="0"/>
                        </a:rPr>
                        <a:t>Pháp</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10258"/>
                  </a:ext>
                </a:extLst>
              </a:tr>
              <a:tr h="367668">
                <a:tc>
                  <a:txBody>
                    <a:bodyPr/>
                    <a:lstStyle/>
                    <a:p>
                      <a:r>
                        <a:rPr lang="en-GB" sz="1600" dirty="0">
                          <a:solidFill>
                            <a:srgbClr val="000000"/>
                          </a:solidFill>
                          <a:latin typeface="Times New Roman" panose="02020603050405020304" pitchFamily="18" charset="0"/>
                          <a:cs typeface="Times New Roman" panose="02020603050405020304" pitchFamily="18" charset="0"/>
                        </a:rPr>
                        <a:t>Montana</a:t>
                      </a:r>
                    </a:p>
                  </a:txBody>
                  <a:tcPr/>
                </a:tc>
                <a:tc>
                  <a:txBody>
                    <a:bodyPr/>
                    <a:lstStyle/>
                    <a:p>
                      <a:r>
                        <a:rPr lang="en-US" sz="1600" dirty="0">
                          <a:solidFill>
                            <a:srgbClr val="000000"/>
                          </a:solidFill>
                          <a:latin typeface="Times New Roman" panose="02020603050405020304" pitchFamily="18" charset="0"/>
                          <a:cs typeface="Times New Roman" panose="02020603050405020304" pitchFamily="18" charset="0"/>
                        </a:rPr>
                        <a:t>Small Business (</a:t>
                      </a:r>
                      <a:r>
                        <a:rPr lang="en-US" sz="1600" dirty="0" err="1">
                          <a:solidFill>
                            <a:srgbClr val="000000"/>
                          </a:solidFill>
                          <a:latin typeface="Times New Roman" panose="02020603050405020304" pitchFamily="18" charset="0"/>
                          <a:cs typeface="Times New Roman" panose="02020603050405020304" pitchFamily="18" charset="0"/>
                        </a:rPr>
                        <a:t>Tỷ</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trọng</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cao</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nhất</a:t>
                      </a:r>
                      <a:r>
                        <a:rPr lang="en-US" sz="1600" dirty="0">
                          <a:solidFill>
                            <a:srgbClr val="000000"/>
                          </a:solidFill>
                          <a:latin typeface="Times New Roman" panose="02020603050405020304" pitchFamily="18" charset="0"/>
                          <a:cs typeface="Times New Roman" panose="02020603050405020304" pitchFamily="18" charset="0"/>
                        </a:rPr>
                        <a:t>)</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Mạnh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tại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Pháp</a:t>
                      </a:r>
                      <a:r>
                        <a:rPr lang="en-GB" sz="1600" dirty="0">
                          <a:solidFill>
                            <a:srgbClr val="000000"/>
                          </a:solidFill>
                          <a:latin typeface="Times New Roman" panose="02020603050405020304" pitchFamily="18" charset="0"/>
                          <a:cs typeface="Times New Roman" panose="02020603050405020304" pitchFamily="18" charset="0"/>
                        </a:rPr>
                        <a:t> &amp; </a:t>
                      </a:r>
                      <a:r>
                        <a:rPr lang="en-GB" sz="1600" dirty="0" err="1">
                          <a:solidFill>
                            <a:srgbClr val="000000"/>
                          </a:solidFill>
                          <a:latin typeface="Times New Roman" panose="02020603050405020304" pitchFamily="18" charset="0"/>
                          <a:cs typeface="Times New Roman" panose="02020603050405020304" pitchFamily="18" charset="0"/>
                        </a:rPr>
                        <a:t>Đức</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78209947"/>
                  </a:ext>
                </a:extLst>
              </a:tr>
              <a:tr h="367668">
                <a:tc>
                  <a:txBody>
                    <a:bodyPr/>
                    <a:lstStyle/>
                    <a:p>
                      <a:r>
                        <a:rPr lang="en-GB" sz="1600" dirty="0">
                          <a:solidFill>
                            <a:srgbClr val="000000"/>
                          </a:solidFill>
                          <a:latin typeface="Times New Roman" panose="02020603050405020304" pitchFamily="18" charset="0"/>
                          <a:cs typeface="Times New Roman" panose="02020603050405020304" pitchFamily="18" charset="0"/>
                        </a:rPr>
                        <a:t>VTT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Chính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phủ</a:t>
                      </a:r>
                      <a:r>
                        <a:rPr lang="en-GB" sz="1600" dirty="0">
                          <a:solidFill>
                            <a:srgbClr val="000000"/>
                          </a:solidFill>
                          <a:latin typeface="Times New Roman" panose="02020603050405020304" pitchFamily="18" charset="0"/>
                          <a:cs typeface="Times New Roman" panose="02020603050405020304" pitchFamily="18" charset="0"/>
                        </a:rPr>
                        <a:t> &amp; Small Business</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Mạnh</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tại</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Mỹ</a:t>
                      </a:r>
                      <a:endParaRPr lang="en-GB"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7308491"/>
                  </a:ext>
                </a:extLst>
              </a:tr>
            </a:tbl>
          </a:graphicData>
        </a:graphic>
      </p:graphicFrame>
      <p:sp>
        <p:nvSpPr>
          <p:cNvPr id="5" name="Text Placeholder 26">
            <a:extLst>
              <a:ext uri="{FF2B5EF4-FFF2-40B4-BE49-F238E27FC236}">
                <a16:creationId xmlns:a16="http://schemas.microsoft.com/office/drawing/2014/main" id="{F29B251E-15BD-254F-AECE-4EBF186163E1}"/>
              </a:ext>
            </a:extLst>
          </p:cNvPr>
          <p:cNvSpPr txBox="1">
            <a:spLocks/>
          </p:cNvSpPr>
          <p:nvPr/>
        </p:nvSpPr>
        <p:spPr>
          <a:xfrm>
            <a:off x="365761" y="3870784"/>
            <a:ext cx="10165022" cy="1871511"/>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vi-VN" sz="1600" dirty="0">
                <a:solidFill>
                  <a:srgbClr val="000000"/>
                </a:solidFill>
                <a:latin typeface="Times New Roman" panose="02020603050405020304" pitchFamily="18" charset="0"/>
                <a:cs typeface="Times New Roman" panose="02020603050405020304" pitchFamily="18" charset="0"/>
              </a:rPr>
              <a:t>Trong năm 2014, công ty dường như đã thực hiện một chiến lược </a:t>
            </a:r>
            <a:r>
              <a:rPr lang="vi-VN" sz="1600" b="1" dirty="0">
                <a:solidFill>
                  <a:srgbClr val="000000"/>
                </a:solidFill>
                <a:latin typeface="Times New Roman" panose="02020603050405020304" pitchFamily="18" charset="0"/>
                <a:cs typeface="Times New Roman" panose="02020603050405020304" pitchFamily="18" charset="0"/>
              </a:rPr>
              <a:t>"Chuẩn hóa sản phẩm"</a:t>
            </a:r>
            <a:r>
              <a:rPr lang="vi-VN" sz="1600" dirty="0">
                <a:solidFill>
                  <a:srgbClr val="000000"/>
                </a:solidFill>
                <a:latin typeface="Times New Roman" panose="02020603050405020304" pitchFamily="18" charset="0"/>
                <a:cs typeface="Times New Roman" panose="02020603050405020304" pitchFamily="18" charset="0"/>
              </a:rPr>
              <a:t>. Thay vì để mỗi sản phẩm tự bơi ở một thị trường riêng lẻ, họ đã ép các chỉ số doanh thu về mức cân bằng 20% cho mỗi nước. Đồng thời, họ chọn </a:t>
            </a:r>
            <a:r>
              <a:rPr lang="vi-VN" sz="1600" b="1" dirty="0">
                <a:solidFill>
                  <a:srgbClr val="000000"/>
                </a:solidFill>
                <a:latin typeface="Times New Roman" panose="02020603050405020304" pitchFamily="18" charset="0"/>
                <a:cs typeface="Times New Roman" panose="02020603050405020304" pitchFamily="18" charset="0"/>
              </a:rPr>
              <a:t>Phân khúc Chính phủ</a:t>
            </a:r>
            <a:r>
              <a:rPr lang="vi-VN" sz="1600" dirty="0">
                <a:solidFill>
                  <a:srgbClr val="000000"/>
                </a:solidFill>
                <a:latin typeface="Times New Roman" panose="02020603050405020304" pitchFamily="18" charset="0"/>
                <a:cs typeface="Times New Roman" panose="02020603050405020304" pitchFamily="18" charset="0"/>
              </a:rPr>
              <a:t> làm "mỏ neo" lợi nhuận cho tất cả các dòng sản phẩm để đảm bảo dòng tiền ổn định.</a:t>
            </a:r>
          </a:p>
        </p:txBody>
      </p:sp>
      <p:sp>
        <p:nvSpPr>
          <p:cNvPr id="6" name="TextBox 5">
            <a:extLst>
              <a:ext uri="{FF2B5EF4-FFF2-40B4-BE49-F238E27FC236}">
                <a16:creationId xmlns:a16="http://schemas.microsoft.com/office/drawing/2014/main" id="{55072507-B650-AB8E-7ECD-612AFA3EA2C4}"/>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4.Sản </a:t>
            </a:r>
            <a:r>
              <a:rPr lang="en-US" b="1" dirty="0" err="1">
                <a:solidFill>
                  <a:srgbClr val="000000"/>
                </a:solidFill>
                <a:latin typeface="Times New Roman" panose="02020603050405020304" pitchFamily="18" charset="0"/>
                <a:cs typeface="Times New Roman" panose="02020603050405020304" pitchFamily="18" charset="0"/>
              </a:rPr>
              <a:t>phẩm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theo</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phân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khúc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thị</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trường</a:t>
            </a:r>
            <a:endParaRPr lang="en-US"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454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9210D02-BD78-856B-08E2-820032AC6B71}"/>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15</a:t>
            </a:fld>
            <a:endParaRPr lang="en-GB" dirty="0"/>
          </a:p>
        </p:txBody>
      </p:sp>
      <p:sp>
        <p:nvSpPr>
          <p:cNvPr id="2" name="Text Placeholder 26">
            <a:extLst>
              <a:ext uri="{FF2B5EF4-FFF2-40B4-BE49-F238E27FC236}">
                <a16:creationId xmlns:a16="http://schemas.microsoft.com/office/drawing/2014/main" id="{5C3C2E56-9698-279D-615A-A551C31AA211}"/>
              </a:ext>
            </a:extLst>
          </p:cNvPr>
          <p:cNvSpPr txBox="1">
            <a:spLocks/>
          </p:cNvSpPr>
          <p:nvPr/>
        </p:nvSpPr>
        <p:spPr>
          <a:xfrm>
            <a:off x="593323" y="595224"/>
            <a:ext cx="10991952" cy="4925682"/>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latin typeface="+mj-lt"/>
            </a:endParaRPr>
          </a:p>
        </p:txBody>
      </p:sp>
      <p:sp>
        <p:nvSpPr>
          <p:cNvPr id="11" name="Text Placeholder 26">
            <a:extLst>
              <a:ext uri="{FF2B5EF4-FFF2-40B4-BE49-F238E27FC236}">
                <a16:creationId xmlns:a16="http://schemas.microsoft.com/office/drawing/2014/main" id="{12A9E340-97DA-80C5-695D-E3CCCDBA267E}"/>
              </a:ext>
            </a:extLst>
          </p:cNvPr>
          <p:cNvSpPr txBox="1">
            <a:spLocks/>
          </p:cNvSpPr>
          <p:nvPr/>
        </p:nvSpPr>
        <p:spPr>
          <a:xfrm>
            <a:off x="365760" y="595224"/>
            <a:ext cx="10974699" cy="5822828"/>
          </a:xfrm>
          <a:prstGeom prst="rect">
            <a:avLst/>
          </a:prstGeom>
        </p:spPr>
        <p:txBody>
          <a:bodyPr vert="horz" lIns="91440" tIns="45720" rIns="91440" bIns="45720" rtlCol="0">
            <a:no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vi-VN" sz="1400" b="1" dirty="0">
                <a:solidFill>
                  <a:srgbClr val="000000"/>
                </a:solidFill>
                <a:latin typeface="Times New Roman" panose="02020603050405020304" pitchFamily="18" charset="0"/>
                <a:cs typeface="Times New Roman" panose="02020603050405020304" pitchFamily="18" charset="0"/>
              </a:rPr>
              <a:t>1. Carretera:</a:t>
            </a:r>
            <a:r>
              <a:rPr lang="en-US" sz="1400" b="1" dirty="0">
                <a:solidFill>
                  <a:srgbClr val="000000"/>
                </a:solidFill>
                <a:latin typeface="Times New Roman" panose="02020603050405020304" pitchFamily="18" charset="0"/>
                <a:cs typeface="Times New Roman" panose="02020603050405020304" pitchFamily="18" charset="0"/>
              </a:rPr>
              <a:t> C</a:t>
            </a:r>
            <a:r>
              <a:rPr lang="vi-VN" sz="1400" b="1" dirty="0">
                <a:solidFill>
                  <a:srgbClr val="000000"/>
                </a:solidFill>
                <a:latin typeface="Times New Roman" panose="02020603050405020304" pitchFamily="18" charset="0"/>
                <a:cs typeface="Times New Roman" panose="02020603050405020304" pitchFamily="18" charset="0"/>
              </a:rPr>
              <a:t>ải thiện</a:t>
            </a:r>
            <a:r>
              <a:rPr lang="en-US" sz="1400" b="1" dirty="0">
                <a:solidFill>
                  <a:srgbClr val="000000"/>
                </a:solidFill>
                <a:latin typeface="Times New Roman" panose="02020603050405020304" pitchFamily="18" charset="0"/>
                <a:cs typeface="Times New Roman" panose="02020603050405020304" pitchFamily="18" charset="0"/>
              </a:rPr>
              <a:t> </a:t>
            </a:r>
            <a:r>
              <a:rPr lang="en-US" sz="1400" b="1" dirty="0" err="1">
                <a:solidFill>
                  <a:srgbClr val="000000"/>
                </a:solidFill>
                <a:latin typeface="Times New Roman" panose="02020603050405020304" pitchFamily="18" charset="0"/>
                <a:cs typeface="Times New Roman" panose="02020603050405020304" pitchFamily="18" charset="0"/>
              </a:rPr>
              <a:t>tốt</a:t>
            </a:r>
            <a:endParaRPr lang="vi-VN" sz="1400" b="1" dirty="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Là sản phẩm "tệ" nhất danh mục. Dù doanh thu ở phân khúc </a:t>
            </a:r>
            <a:r>
              <a:rPr lang="vi-VN" sz="1400" b="1" dirty="0">
                <a:solidFill>
                  <a:srgbClr val="000000"/>
                </a:solidFill>
                <a:latin typeface="Times New Roman" panose="02020603050405020304" pitchFamily="18" charset="0"/>
                <a:cs typeface="Times New Roman" panose="02020603050405020304" pitchFamily="18" charset="0"/>
              </a:rPr>
              <a:t>Enterprise</a:t>
            </a:r>
            <a:r>
              <a:rPr lang="vi-VN" sz="1400" dirty="0">
                <a:solidFill>
                  <a:srgbClr val="000000"/>
                </a:solidFill>
                <a:latin typeface="Times New Roman" panose="02020603050405020304" pitchFamily="18" charset="0"/>
                <a:cs typeface="Times New Roman" panose="02020603050405020304" pitchFamily="18" charset="0"/>
              </a:rPr>
              <a:t> rất cao (chiếm hơn 70% cơ cấu), nhưng lợi nhuận tại đây lại âm nặng tới </a:t>
            </a:r>
            <a:r>
              <a:rPr lang="vi-VN" sz="1400" b="1" dirty="0">
                <a:solidFill>
                  <a:srgbClr val="000000"/>
                </a:solidFill>
                <a:latin typeface="Times New Roman" panose="02020603050405020304" pitchFamily="18" charset="0"/>
                <a:cs typeface="Times New Roman" panose="02020603050405020304" pitchFamily="18" charset="0"/>
              </a:rPr>
              <a:t>-40.65%</a:t>
            </a:r>
            <a:r>
              <a:rPr lang="vi-VN" sz="1400" dirty="0">
                <a:solidFill>
                  <a:srgbClr val="000000"/>
                </a:solidFill>
                <a:latin typeface="Times New Roman" panose="02020603050405020304" pitchFamily="18" charset="0"/>
                <a:cs typeface="Times New Roman" panose="02020603050405020304" pitchFamily="18" charset="0"/>
              </a:rPr>
              <a:t> do chiết khấu quá tay (lên tới 10.61%).</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Công ty thực hiện "phẫu thuật" cơ cấu khách hàng, đưa mảng </a:t>
            </a:r>
            <a:r>
              <a:rPr lang="vi-VN" sz="1400" b="1" dirty="0">
                <a:solidFill>
                  <a:srgbClr val="000000"/>
                </a:solidFill>
                <a:latin typeface="Times New Roman" panose="02020603050405020304" pitchFamily="18" charset="0"/>
                <a:cs typeface="Times New Roman" panose="02020603050405020304" pitchFamily="18" charset="0"/>
              </a:rPr>
              <a:t>Government</a:t>
            </a:r>
            <a:r>
              <a:rPr lang="vi-VN" sz="1400" dirty="0">
                <a:solidFill>
                  <a:srgbClr val="000000"/>
                </a:solidFill>
                <a:latin typeface="Times New Roman" panose="02020603050405020304" pitchFamily="18" charset="0"/>
                <a:cs typeface="Times New Roman" panose="02020603050405020304" pitchFamily="18" charset="0"/>
              </a:rPr>
              <a:t> (48.05%) lên làm chủ đạo thay thế Enterprise. Kết quả: Lợi nhuận từ lỗ chuyển sang lãi thuần, đóng góp ổn định hơn 65% tổng lợi nhuận từ mảng Chính phủ.</a:t>
            </a:r>
          </a:p>
          <a:p>
            <a:pPr marL="0" indent="0">
              <a:buNone/>
            </a:pPr>
            <a:r>
              <a:rPr lang="vi-VN" sz="1400" b="1" dirty="0">
                <a:solidFill>
                  <a:srgbClr val="000000"/>
                </a:solidFill>
                <a:latin typeface="Times New Roman" panose="02020603050405020304" pitchFamily="18" charset="0"/>
                <a:cs typeface="Times New Roman" panose="02020603050405020304" pitchFamily="18" charset="0"/>
              </a:rPr>
              <a:t>2. Velo:</a:t>
            </a:r>
            <a:r>
              <a:rPr lang="en-US" sz="1400" b="1" dirty="0">
                <a:solidFill>
                  <a:srgbClr val="000000"/>
                </a:solidFill>
                <a:latin typeface="Times New Roman" panose="02020603050405020304" pitchFamily="18" charset="0"/>
                <a:cs typeface="Times New Roman" panose="02020603050405020304" pitchFamily="18" charset="0"/>
              </a:rPr>
              <a:t> </a:t>
            </a:r>
            <a:r>
              <a:rPr lang="en-US" sz="1400" b="1" dirty="0" err="1">
                <a:solidFill>
                  <a:srgbClr val="000000"/>
                </a:solidFill>
                <a:latin typeface="Times New Roman" panose="02020603050405020304" pitchFamily="18" charset="0"/>
                <a:cs typeface="Times New Roman" panose="02020603050405020304" pitchFamily="18" charset="0"/>
              </a:rPr>
              <a:t>Ổn</a:t>
            </a:r>
            <a:r>
              <a:rPr lang="en-US" sz="1400" b="1" dirty="0">
                <a:solidFill>
                  <a:srgbClr val="000000"/>
                </a:solidFill>
                <a:latin typeface="Times New Roman" panose="02020603050405020304" pitchFamily="18" charset="0"/>
                <a:cs typeface="Times New Roman" panose="02020603050405020304" pitchFamily="18" charset="0"/>
              </a:rPr>
              <a:t> </a:t>
            </a:r>
            <a:r>
              <a:rPr lang="en-US" sz="1400" b="1" dirty="0" err="1">
                <a:solidFill>
                  <a:srgbClr val="000000"/>
                </a:solidFill>
                <a:latin typeface="Times New Roman" panose="02020603050405020304" pitchFamily="18" charset="0"/>
                <a:cs typeface="Times New Roman" panose="02020603050405020304" pitchFamily="18" charset="0"/>
              </a:rPr>
              <a:t>định</a:t>
            </a:r>
            <a:r>
              <a:rPr lang="vi-VN" sz="1400" b="1" dirty="0">
                <a:solidFill>
                  <a:srgbClr val="000000"/>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Lợi nhuận của Velo phụ thuộc cực lớn vào thị trường </a:t>
            </a:r>
            <a:r>
              <a:rPr lang="vi-VN" sz="1400" b="1" dirty="0">
                <a:solidFill>
                  <a:srgbClr val="000000"/>
                </a:solidFill>
                <a:latin typeface="Times New Roman" panose="02020603050405020304" pitchFamily="18" charset="0"/>
                <a:cs typeface="Times New Roman" panose="02020603050405020304" pitchFamily="18" charset="0"/>
              </a:rPr>
              <a:t>Đức</a:t>
            </a:r>
            <a:r>
              <a:rPr lang="vi-VN" sz="1400" dirty="0">
                <a:solidFill>
                  <a:srgbClr val="000000"/>
                </a:solidFill>
                <a:latin typeface="Times New Roman" panose="02020603050405020304" pitchFamily="18" charset="0"/>
                <a:cs typeface="Times New Roman" panose="02020603050405020304" pitchFamily="18" charset="0"/>
              </a:rPr>
              <a:t>, nơi đóng góp tới </a:t>
            </a:r>
            <a:r>
              <a:rPr lang="vi-VN" sz="1400" b="1" dirty="0">
                <a:solidFill>
                  <a:srgbClr val="000000"/>
                </a:solidFill>
                <a:latin typeface="Times New Roman" panose="02020603050405020304" pitchFamily="18" charset="0"/>
                <a:cs typeface="Times New Roman" panose="02020603050405020304" pitchFamily="18" charset="0"/>
              </a:rPr>
              <a:t>44.31%</a:t>
            </a:r>
            <a:r>
              <a:rPr lang="vi-VN" sz="1400" dirty="0">
                <a:solidFill>
                  <a:srgbClr val="000000"/>
                </a:solidFill>
                <a:latin typeface="Times New Roman" panose="02020603050405020304" pitchFamily="18" charset="0"/>
                <a:cs typeface="Times New Roman" panose="02020603050405020304" pitchFamily="18" charset="0"/>
              </a:rPr>
              <a:t> tổng lãi của sản phẩm này. Chiến lược lúc này mang tính khu vực rõ rệt.</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Velo chuyển mình thành sản phẩm "quốc dân". Doanh thu và lợi nhuận được chia đều cho cả 5 quốc gia (mỗi nước ~20%), giúp Velo giảm thiểu rủi ro khi một thị trường đơn lẻ gặp biến động.</a:t>
            </a:r>
          </a:p>
          <a:p>
            <a:pPr marL="0" indent="0">
              <a:buNone/>
            </a:pPr>
            <a:r>
              <a:rPr lang="vi-VN" sz="1400" b="1" dirty="0">
                <a:solidFill>
                  <a:srgbClr val="000000"/>
                </a:solidFill>
                <a:latin typeface="Times New Roman" panose="02020603050405020304" pitchFamily="18" charset="0"/>
                <a:cs typeface="Times New Roman" panose="02020603050405020304" pitchFamily="18" charset="0"/>
              </a:rPr>
              <a:t>3. Amarilla: Sự chuyển dịch từ Chính phủ sang Doanh nghiệp nhỏ</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Cực kỳ phụ thuộc vào khách hàng công, với </a:t>
            </a:r>
            <a:r>
              <a:rPr lang="vi-VN" sz="1400" b="1" dirty="0">
                <a:solidFill>
                  <a:srgbClr val="000000"/>
                </a:solidFill>
                <a:latin typeface="Times New Roman" panose="02020603050405020304" pitchFamily="18" charset="0"/>
                <a:cs typeface="Times New Roman" panose="02020603050405020304" pitchFamily="18" charset="0"/>
              </a:rPr>
              <a:t>87%</a:t>
            </a:r>
            <a:r>
              <a:rPr lang="vi-VN" sz="1400" dirty="0">
                <a:solidFill>
                  <a:srgbClr val="000000"/>
                </a:solidFill>
                <a:latin typeface="Times New Roman" panose="02020603050405020304" pitchFamily="18" charset="0"/>
                <a:cs typeface="Times New Roman" panose="02020603050405020304" pitchFamily="18" charset="0"/>
              </a:rPr>
              <a:t> doanh thu đến từ mảng </a:t>
            </a:r>
            <a:r>
              <a:rPr lang="vi-VN" sz="1400" b="1" dirty="0">
                <a:solidFill>
                  <a:srgbClr val="000000"/>
                </a:solidFill>
                <a:latin typeface="Times New Roman" panose="02020603050405020304" pitchFamily="18" charset="0"/>
                <a:cs typeface="Times New Roman" panose="02020603050405020304" pitchFamily="18" charset="0"/>
              </a:rPr>
              <a:t>Government</a:t>
            </a:r>
            <a:r>
              <a:rPr lang="vi-VN" sz="14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Công ty chủ động giảm sự phụ thuộc này xuống còn </a:t>
            </a:r>
            <a:r>
              <a:rPr lang="vi-VN" sz="1400" b="1" dirty="0">
                <a:solidFill>
                  <a:srgbClr val="000000"/>
                </a:solidFill>
                <a:latin typeface="Times New Roman" panose="02020603050405020304" pitchFamily="18" charset="0"/>
                <a:cs typeface="Times New Roman" panose="02020603050405020304" pitchFamily="18" charset="0"/>
              </a:rPr>
              <a:t>48%</a:t>
            </a:r>
            <a:r>
              <a:rPr lang="vi-VN" sz="1400" dirty="0">
                <a:solidFill>
                  <a:srgbClr val="000000"/>
                </a:solidFill>
                <a:latin typeface="Times New Roman" panose="02020603050405020304" pitchFamily="18" charset="0"/>
                <a:cs typeface="Times New Roman" panose="02020603050405020304" pitchFamily="18" charset="0"/>
              </a:rPr>
              <a:t> doanh thu để mở rộng sang </a:t>
            </a:r>
            <a:r>
              <a:rPr lang="vi-VN" sz="1400" b="1" dirty="0">
                <a:solidFill>
                  <a:srgbClr val="000000"/>
                </a:solidFill>
                <a:latin typeface="Times New Roman" panose="02020603050405020304" pitchFamily="18" charset="0"/>
                <a:cs typeface="Times New Roman" panose="02020603050405020304" pitchFamily="18" charset="0"/>
              </a:rPr>
              <a:t>Small Business</a:t>
            </a:r>
            <a:r>
              <a:rPr lang="vi-VN" sz="1400" dirty="0">
                <a:solidFill>
                  <a:srgbClr val="000000"/>
                </a:solidFill>
                <a:latin typeface="Times New Roman" panose="02020603050405020304" pitchFamily="18" charset="0"/>
                <a:cs typeface="Times New Roman" panose="02020603050405020304" pitchFamily="18" charset="0"/>
              </a:rPr>
              <a:t> (32%). Tuy nhiên, về mặt hiệu quả, lợi nhuận thực tế vẫn do "bầu sữa" Chính phủ gánh vác chính (chiếm gần 70% lãi).</a:t>
            </a:r>
          </a:p>
          <a:p>
            <a:pPr marL="0" indent="0">
              <a:buNone/>
            </a:pPr>
            <a:r>
              <a:rPr lang="vi-VN" sz="1400" b="1" dirty="0">
                <a:solidFill>
                  <a:srgbClr val="000000"/>
                </a:solidFill>
                <a:latin typeface="Times New Roman" panose="02020603050405020304" pitchFamily="18" charset="0"/>
                <a:cs typeface="Times New Roman" panose="02020603050405020304" pitchFamily="18" charset="0"/>
              </a:rPr>
              <a:t>4. Montana: </a:t>
            </a:r>
            <a:r>
              <a:rPr lang="en-US" sz="1400" b="1" dirty="0">
                <a:solidFill>
                  <a:srgbClr val="000000"/>
                </a:solidFill>
                <a:latin typeface="Times New Roman" panose="02020603050405020304" pitchFamily="18" charset="0"/>
                <a:cs typeface="Times New Roman" panose="02020603050405020304" pitchFamily="18" charset="0"/>
              </a:rPr>
              <a:t>P</a:t>
            </a:r>
            <a:r>
              <a:rPr lang="vi-VN" sz="1400" b="1" dirty="0">
                <a:solidFill>
                  <a:srgbClr val="000000"/>
                </a:solidFill>
                <a:latin typeface="Times New Roman" panose="02020603050405020304" pitchFamily="18" charset="0"/>
                <a:cs typeface="Times New Roman" panose="02020603050405020304" pitchFamily="18" charset="0"/>
              </a:rPr>
              <a:t>hân khúc Doanh nghiệp nhỏ (Small Business)</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Montana sớm bộc lộ thế mạnh ở mảng </a:t>
            </a:r>
            <a:r>
              <a:rPr lang="vi-VN" sz="1400" b="1" dirty="0">
                <a:solidFill>
                  <a:srgbClr val="000000"/>
                </a:solidFill>
                <a:latin typeface="Times New Roman" panose="02020603050405020304" pitchFamily="18" charset="0"/>
                <a:cs typeface="Times New Roman" panose="02020603050405020304" pitchFamily="18" charset="0"/>
              </a:rPr>
              <a:t>Small Business</a:t>
            </a:r>
            <a:r>
              <a:rPr lang="vi-VN" sz="1400" dirty="0">
                <a:solidFill>
                  <a:srgbClr val="000000"/>
                </a:solidFill>
                <a:latin typeface="Times New Roman" panose="02020603050405020304" pitchFamily="18" charset="0"/>
                <a:cs typeface="Times New Roman" panose="02020603050405020304" pitchFamily="18" charset="0"/>
              </a:rPr>
              <a:t> khi phân khúc này chiếm gần một nửa lợi nhuận (</a:t>
            </a:r>
            <a:r>
              <a:rPr lang="vi-VN" sz="1400" b="1" dirty="0">
                <a:solidFill>
                  <a:srgbClr val="000000"/>
                </a:solidFill>
                <a:latin typeface="Times New Roman" panose="02020603050405020304" pitchFamily="18" charset="0"/>
                <a:cs typeface="Times New Roman" panose="02020603050405020304" pitchFamily="18" charset="0"/>
              </a:rPr>
              <a:t>43.32%</a:t>
            </a:r>
            <a:r>
              <a:rPr lang="vi-VN" sz="14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Xu hướng này tiếp tục được củng cố. Dù mảng Chính phủ vẫn đóng góp lớn, nhưng Montana hiện là sản phẩm có tỷ trọng lợi nhuận từ các doanh nghiệp nhỏ cao nhất trong bảng danh mục (</a:t>
            </a:r>
            <a:r>
              <a:rPr lang="vi-VN" sz="1400" b="1" dirty="0">
                <a:solidFill>
                  <a:srgbClr val="000000"/>
                </a:solidFill>
                <a:latin typeface="Times New Roman" panose="02020603050405020304" pitchFamily="18" charset="0"/>
                <a:cs typeface="Times New Roman" panose="02020603050405020304" pitchFamily="18" charset="0"/>
              </a:rPr>
              <a:t>31.34%</a:t>
            </a:r>
            <a:r>
              <a:rPr lang="vi-VN" sz="1400" dirty="0">
                <a:solidFill>
                  <a:srgbClr val="000000"/>
                </a:solidFill>
                <a:latin typeface="Times New Roman" panose="02020603050405020304" pitchFamily="18" charset="0"/>
                <a:cs typeface="Times New Roman" panose="02020603050405020304" pitchFamily="18" charset="0"/>
              </a:rPr>
              <a:t>).</a:t>
            </a:r>
          </a:p>
          <a:p>
            <a:pPr marL="0" indent="0">
              <a:buNone/>
            </a:pPr>
            <a:r>
              <a:rPr lang="vi-VN" sz="1400" b="1" dirty="0">
                <a:solidFill>
                  <a:srgbClr val="000000"/>
                </a:solidFill>
                <a:latin typeface="Times New Roman" panose="02020603050405020304" pitchFamily="18" charset="0"/>
                <a:cs typeface="Times New Roman" panose="02020603050405020304" pitchFamily="18" charset="0"/>
              </a:rPr>
              <a:t>5. VTT: </a:t>
            </a:r>
            <a:r>
              <a:rPr lang="en-US" sz="1400" b="1" dirty="0" err="1">
                <a:solidFill>
                  <a:srgbClr val="000000"/>
                </a:solidFill>
                <a:latin typeface="Times New Roman" panose="02020603050405020304" pitchFamily="18" charset="0"/>
                <a:cs typeface="Times New Roman" panose="02020603050405020304" pitchFamily="18" charset="0"/>
              </a:rPr>
              <a:t>Ổn</a:t>
            </a:r>
            <a:r>
              <a:rPr lang="en-US" sz="1400" b="1" dirty="0">
                <a:solidFill>
                  <a:srgbClr val="000000"/>
                </a:solidFill>
                <a:latin typeface="Times New Roman" panose="02020603050405020304" pitchFamily="18" charset="0"/>
                <a:cs typeface="Times New Roman" panose="02020603050405020304" pitchFamily="18" charset="0"/>
              </a:rPr>
              <a:t> </a:t>
            </a:r>
            <a:r>
              <a:rPr lang="en-US" sz="1400" b="1" dirty="0" err="1">
                <a:solidFill>
                  <a:srgbClr val="000000"/>
                </a:solidFill>
                <a:latin typeface="Times New Roman" panose="02020603050405020304" pitchFamily="18" charset="0"/>
                <a:cs typeface="Times New Roman" panose="02020603050405020304" pitchFamily="18" charset="0"/>
              </a:rPr>
              <a:t>định</a:t>
            </a:r>
            <a:endParaRPr lang="vi-VN" sz="1400" b="1" dirty="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Duy trì mức lãi ổn định nhờ kiểm soát tốt chiết khấu ở mức </a:t>
            </a:r>
            <a:r>
              <a:rPr lang="vi-VN" sz="1400" b="1" dirty="0">
                <a:solidFill>
                  <a:srgbClr val="000000"/>
                </a:solidFill>
                <a:latin typeface="Times New Roman" panose="02020603050405020304" pitchFamily="18" charset="0"/>
                <a:cs typeface="Times New Roman" panose="02020603050405020304" pitchFamily="18" charset="0"/>
              </a:rPr>
              <a:t>7.91%</a:t>
            </a:r>
            <a:r>
              <a:rPr lang="vi-VN" sz="14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Trở thành "học sinh xuất sắc" nhất về tài chính với tỷ lệ thất thoát do giảm giá thấp nhất hệ thống (</a:t>
            </a:r>
            <a:r>
              <a:rPr lang="vi-VN" sz="1400" b="1" dirty="0">
                <a:solidFill>
                  <a:srgbClr val="000000"/>
                </a:solidFill>
                <a:latin typeface="Times New Roman" panose="02020603050405020304" pitchFamily="18" charset="0"/>
                <a:cs typeface="Times New Roman" panose="02020603050405020304" pitchFamily="18" charset="0"/>
              </a:rPr>
              <a:t>6.81%</a:t>
            </a:r>
            <a:r>
              <a:rPr lang="vi-VN" sz="1400" dirty="0">
                <a:solidFill>
                  <a:srgbClr val="000000"/>
                </a:solidFill>
                <a:latin typeface="Times New Roman" panose="02020603050405020304" pitchFamily="18" charset="0"/>
                <a:cs typeface="Times New Roman" panose="02020603050405020304" pitchFamily="18" charset="0"/>
              </a:rPr>
              <a:t>). Sự kết hợp giữa mảng Chính phủ (56.94% lãi) và Doanh nghiệp nhỏ (30.38% lãi) giúp VTT có cơ cấu lợi nhuận cực kỳ bền vững và ít rủi ro.</a:t>
            </a:r>
          </a:p>
          <a:p>
            <a:pPr marL="0" indent="0">
              <a:buNone/>
            </a:pPr>
            <a:r>
              <a:rPr lang="vi-VN" sz="1400" b="1" dirty="0">
                <a:solidFill>
                  <a:srgbClr val="000000"/>
                </a:solidFill>
                <a:latin typeface="Times New Roman" panose="02020603050405020304" pitchFamily="18" charset="0"/>
                <a:cs typeface="Times New Roman" panose="02020603050405020304" pitchFamily="18" charset="0"/>
              </a:rPr>
              <a:t>6. Paseo: </a:t>
            </a:r>
            <a:r>
              <a:rPr lang="en-US" sz="1400" b="1" dirty="0">
                <a:solidFill>
                  <a:srgbClr val="000000"/>
                </a:solidFill>
                <a:latin typeface="Times New Roman" panose="02020603050405020304" pitchFamily="18" charset="0"/>
                <a:cs typeface="Times New Roman" panose="02020603050405020304" pitchFamily="18" charset="0"/>
              </a:rPr>
              <a:t>D</a:t>
            </a:r>
            <a:r>
              <a:rPr lang="vi-VN" sz="1400" b="1" dirty="0">
                <a:solidFill>
                  <a:srgbClr val="000000"/>
                </a:solidFill>
                <a:latin typeface="Times New Roman" panose="02020603050405020304" pitchFamily="18" charset="0"/>
                <a:cs typeface="Times New Roman" panose="02020603050405020304" pitchFamily="18" charset="0"/>
              </a:rPr>
              <a:t>ẫn dắt doanh thu toàn hệ thống</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2013:</a:t>
            </a:r>
            <a:r>
              <a:rPr lang="vi-VN" sz="1400" dirty="0">
                <a:solidFill>
                  <a:srgbClr val="000000"/>
                </a:solidFill>
                <a:latin typeface="Times New Roman" panose="02020603050405020304" pitchFamily="18" charset="0"/>
                <a:cs typeface="Times New Roman" panose="02020603050405020304" pitchFamily="18" charset="0"/>
              </a:rPr>
              <a:t> Là sản phẩm mang về lợi nhuận cao nhất cho công ty (</a:t>
            </a:r>
            <a:r>
              <a:rPr lang="vi-VN" sz="1400" b="1" dirty="0">
                <a:solidFill>
                  <a:srgbClr val="000000"/>
                </a:solidFill>
                <a:latin typeface="Times New Roman" panose="02020603050405020304" pitchFamily="18" charset="0"/>
                <a:cs typeface="Times New Roman" panose="02020603050405020304" pitchFamily="18" charset="0"/>
              </a:rPr>
              <a:t>$1.1M</a:t>
            </a:r>
            <a:r>
              <a:rPr lang="vi-VN" sz="1400" dirty="0">
                <a:solidFill>
                  <a:srgbClr val="000000"/>
                </a:solidFill>
                <a:latin typeface="Times New Roman" panose="02020603050405020304" pitchFamily="18" charset="0"/>
                <a:cs typeface="Times New Roman" panose="02020603050405020304" pitchFamily="18" charset="0"/>
              </a:rPr>
              <a:t>) với tỷ lệ thất thoát chiết khấu </a:t>
            </a:r>
            <a:r>
              <a:rPr lang="vi-VN" sz="1400" b="1" dirty="0">
                <a:solidFill>
                  <a:srgbClr val="000000"/>
                </a:solidFill>
                <a:latin typeface="Times New Roman" panose="02020603050405020304" pitchFamily="18" charset="0"/>
                <a:cs typeface="Times New Roman" panose="02020603050405020304" pitchFamily="18" charset="0"/>
              </a:rPr>
              <a:t>8.99%</a:t>
            </a:r>
            <a:r>
              <a:rPr lang="vi-VN" sz="14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400" b="1" dirty="0">
                <a:solidFill>
                  <a:srgbClr val="000000"/>
                </a:solidFill>
                <a:latin typeface="Times New Roman" panose="02020603050405020304" pitchFamily="18" charset="0"/>
                <a:cs typeface="Times New Roman" panose="02020603050405020304" pitchFamily="18" charset="0"/>
              </a:rPr>
              <a:t>Năm 2014:</a:t>
            </a:r>
            <a:r>
              <a:rPr lang="vi-VN" sz="1400" dirty="0">
                <a:solidFill>
                  <a:srgbClr val="000000"/>
                </a:solidFill>
                <a:latin typeface="Times New Roman" panose="02020603050405020304" pitchFamily="18" charset="0"/>
                <a:cs typeface="Times New Roman" panose="02020603050405020304" pitchFamily="18" charset="0"/>
              </a:rPr>
              <a:t> Tiếp tục duy trì vị thế "đầu tàu" với lợi nhuận biên tốt nhất qua các năm nhờ bám sát các hợp đồng công. Paseo chiếm tỷ trọng lợi nhuận từ mảng </a:t>
            </a:r>
            <a:r>
              <a:rPr lang="vi-VN" sz="1400" b="1" dirty="0">
                <a:solidFill>
                  <a:srgbClr val="000000"/>
                </a:solidFill>
                <a:latin typeface="Times New Roman" panose="02020603050405020304" pitchFamily="18" charset="0"/>
                <a:cs typeface="Times New Roman" panose="02020603050405020304" pitchFamily="18" charset="0"/>
              </a:rPr>
              <a:t>Government</a:t>
            </a:r>
            <a:r>
              <a:rPr lang="vi-VN" sz="1400" dirty="0">
                <a:solidFill>
                  <a:srgbClr val="000000"/>
                </a:solidFill>
                <a:latin typeface="Times New Roman" panose="02020603050405020304" pitchFamily="18" charset="0"/>
                <a:cs typeface="Times New Roman" panose="02020603050405020304" pitchFamily="18" charset="0"/>
              </a:rPr>
              <a:t> cực cao (</a:t>
            </a:r>
            <a:r>
              <a:rPr lang="vi-VN" sz="1400" b="1" dirty="0">
                <a:solidFill>
                  <a:srgbClr val="000000"/>
                </a:solidFill>
                <a:latin typeface="Times New Roman" panose="02020603050405020304" pitchFamily="18" charset="0"/>
                <a:cs typeface="Times New Roman" panose="02020603050405020304" pitchFamily="18" charset="0"/>
              </a:rPr>
              <a:t>61.63%</a:t>
            </a:r>
            <a:r>
              <a:rPr lang="vi-VN" sz="1400" dirty="0">
                <a:solidFill>
                  <a:srgbClr val="000000"/>
                </a:solidFill>
                <a:latin typeface="Times New Roman" panose="02020603050405020304" pitchFamily="18" charset="0"/>
                <a:cs typeface="Times New Roman" panose="02020603050405020304" pitchFamily="18" charset="0"/>
              </a:rPr>
              <a:t>) và đóng góp doanh thu lớn nhất cho công ty (</a:t>
            </a:r>
            <a:r>
              <a:rPr lang="vi-VN" sz="1400" b="1" dirty="0">
                <a:solidFill>
                  <a:srgbClr val="000000"/>
                </a:solidFill>
                <a:latin typeface="Times New Roman" panose="02020603050405020304" pitchFamily="18" charset="0"/>
                <a:cs typeface="Times New Roman" panose="02020603050405020304" pitchFamily="18" charset="0"/>
              </a:rPr>
              <a:t>$33M</a:t>
            </a:r>
            <a:r>
              <a:rPr lang="vi-VN" sz="1400" dirty="0">
                <a:solidFill>
                  <a:srgbClr val="000000"/>
                </a:solidFill>
                <a:latin typeface="Times New Roman" panose="02020603050405020304" pitchFamily="18" charset="0"/>
                <a:cs typeface="Times New Roman" panose="02020603050405020304" pitchFamily="18" charset="0"/>
              </a:rPr>
              <a:t>).</a:t>
            </a:r>
          </a:p>
          <a:p>
            <a:pPr marL="0" indent="0">
              <a:buNone/>
            </a:pPr>
            <a:endParaRPr lang="vi-VN" sz="1400" dirty="0">
              <a:solidFill>
                <a:srgbClr val="000000"/>
              </a:solidFill>
              <a:latin typeface="Times New Roman" panose="02020603050405020304" pitchFamily="18" charset="0"/>
              <a:cs typeface="Times New Roman" panose="02020603050405020304" pitchFamily="18" charset="0"/>
            </a:endParaRPr>
          </a:p>
          <a:p>
            <a:pPr marL="0" indent="0">
              <a:buNone/>
            </a:pPr>
            <a:endParaRPr lang="vi-VN" sz="1400" dirty="0">
              <a:latin typeface="Times New Roman" panose="02020603050405020304" pitchFamily="18" charset="0"/>
              <a:cs typeface="Times New Roman" panose="02020603050405020304" pitchFamily="18" charset="0"/>
            </a:endParaRPr>
          </a:p>
          <a:p>
            <a:pPr marL="0" indent="0">
              <a:buNone/>
            </a:pPr>
            <a:endParaRPr lang="vi-VN" sz="1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44DBF0-6955-9C72-0F54-2BF450D62558}"/>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5. </a:t>
            </a:r>
            <a:r>
              <a:rPr lang="en-US" b="1" dirty="0" err="1">
                <a:solidFill>
                  <a:srgbClr val="000000"/>
                </a:solidFill>
                <a:latin typeface="Times New Roman" panose="02020603050405020304" pitchFamily="18" charset="0"/>
                <a:cs typeface="Times New Roman" panose="02020603050405020304" pitchFamily="18" charset="0"/>
              </a:rPr>
              <a:t>Đánh</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giá</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sản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phẩm</a:t>
            </a:r>
            <a:r>
              <a:rPr lang="en-US" b="1" dirty="0">
                <a:solidFill>
                  <a:srgbClr val="000000"/>
                </a:solidFill>
                <a:latin typeface="Times New Roman" panose="02020603050405020304" pitchFamily="18" charset="0"/>
                <a:cs typeface="Times New Roman" panose="02020603050405020304" pitchFamily="18" charset="0"/>
              </a:rPr>
              <a:t> </a:t>
            </a:r>
            <a:endParaRPr lang="en-GB"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906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3AABF76-F42A-5213-B615-6C140041CC74}"/>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16</a:t>
            </a:fld>
            <a:endParaRPr lang="en-GB" dirty="0"/>
          </a:p>
        </p:txBody>
      </p:sp>
      <p:sp>
        <p:nvSpPr>
          <p:cNvPr id="25" name="Title 1">
            <a:extLst>
              <a:ext uri="{FF2B5EF4-FFF2-40B4-BE49-F238E27FC236}">
                <a16:creationId xmlns:a16="http://schemas.microsoft.com/office/drawing/2014/main" id="{5D813B97-E432-CBA3-FBF9-8FD17F3C3EDB}"/>
              </a:ext>
            </a:extLst>
          </p:cNvPr>
          <p:cNvSpPr txBox="1">
            <a:spLocks/>
          </p:cNvSpPr>
          <p:nvPr/>
        </p:nvSpPr>
        <p:spPr>
          <a:xfrm>
            <a:off x="1524000" y="1122363"/>
            <a:ext cx="9144000" cy="2387600"/>
          </a:xfrm>
          <a:prstGeom prst="rect">
            <a:avLst/>
          </a:prstGeom>
        </p:spPr>
        <p:txBody>
          <a:bodyPr vert="horz" lIns="91440" tIns="45720" rIns="91440" bIns="45720" rtlCol="0" anchor="ctr">
            <a:noAutofit/>
          </a:bodyPr>
          <a:lstStyle>
            <a:defPPr>
              <a:defRPr lang="en-GB"/>
            </a:defPPr>
            <a:lvl1pPr algn="l" defTabSz="914400" rtl="0" eaLnBrk="1" latinLnBrk="0" hangingPunct="1">
              <a:lnSpc>
                <a:spcPct val="90000"/>
              </a:lnSpc>
              <a:spcBef>
                <a:spcPct val="0"/>
              </a:spcBef>
              <a:buNone/>
              <a:defRPr lang="en-GB" sz="4800" kern="1200">
                <a:solidFill>
                  <a:schemeClr val="accent1"/>
                </a:solidFill>
                <a:latin typeface="+mj-lt"/>
                <a:ea typeface="+mj-ea"/>
                <a:cs typeface="+mj-cs"/>
              </a:defRPr>
            </a:lvl1pPr>
          </a:lstStyle>
          <a:p>
            <a:pPr algn="ctr"/>
            <a:r>
              <a:rPr lang="en-US" sz="6000" dirty="0" err="1">
                <a:solidFill>
                  <a:srgbClr val="000000"/>
                </a:solidFill>
                <a:latin typeface="Times New Roman" panose="02020603050405020304" pitchFamily="18" charset="0"/>
                <a:cs typeface="Times New Roman" panose="02020603050405020304" pitchFamily="18" charset="0"/>
              </a:rPr>
              <a:t>Rò</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rỉ</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chiết</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khấu</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thị</a:t>
            </a:r>
            <a:r>
              <a:rPr lang="en-US" sz="6000" dirty="0">
                <a:solidFill>
                  <a:srgbClr val="000000"/>
                </a:solidFill>
                <a:latin typeface="Times New Roman" panose="02020603050405020304" pitchFamily="18" charset="0"/>
                <a:cs typeface="Times New Roman" panose="02020603050405020304" pitchFamily="18" charset="0"/>
              </a:rPr>
              <a:t> </a:t>
            </a:r>
            <a:r>
              <a:rPr lang="en-US" sz="6000" dirty="0" err="1">
                <a:solidFill>
                  <a:srgbClr val="000000"/>
                </a:solidFill>
                <a:latin typeface="Times New Roman" panose="02020603050405020304" pitchFamily="18" charset="0"/>
                <a:cs typeface="Times New Roman" panose="02020603050405020304" pitchFamily="18" charset="0"/>
              </a:rPr>
              <a:t>trường</a:t>
            </a:r>
            <a:endParaRPr lang="en-US" sz="6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4941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3AABF76-F42A-5213-B615-6C140041CC74}"/>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17</a:t>
            </a:fld>
            <a:endParaRPr lang="en-GB" dirty="0"/>
          </a:p>
        </p:txBody>
      </p:sp>
      <p:graphicFrame>
        <p:nvGraphicFramePr>
          <p:cNvPr id="3" name="Table 2">
            <a:extLst>
              <a:ext uri="{FF2B5EF4-FFF2-40B4-BE49-F238E27FC236}">
                <a16:creationId xmlns:a16="http://schemas.microsoft.com/office/drawing/2014/main" id="{FABA28CB-19BA-B19D-949E-1732A4427A62}"/>
              </a:ext>
            </a:extLst>
          </p:cNvPr>
          <p:cNvGraphicFramePr>
            <a:graphicFrameLocks noGrp="1"/>
          </p:cNvGraphicFramePr>
          <p:nvPr>
            <p:extLst>
              <p:ext uri="{D42A27DB-BD31-4B8C-83A1-F6EECF244321}">
                <p14:modId xmlns:p14="http://schemas.microsoft.com/office/powerpoint/2010/main" val="1782132478"/>
              </p:ext>
            </p:extLst>
          </p:nvPr>
        </p:nvGraphicFramePr>
        <p:xfrm>
          <a:off x="365760" y="691951"/>
          <a:ext cx="10528060" cy="5474098"/>
        </p:xfrm>
        <a:graphic>
          <a:graphicData uri="http://schemas.openxmlformats.org/drawingml/2006/table">
            <a:tbl>
              <a:tblPr firstRow="1" bandRow="1">
                <a:tableStyleId>{073A0DAA-6AF3-43AB-8588-CEC1D06C72B9}</a:tableStyleId>
              </a:tblPr>
              <a:tblGrid>
                <a:gridCol w="2105612">
                  <a:extLst>
                    <a:ext uri="{9D8B030D-6E8A-4147-A177-3AD203B41FA5}">
                      <a16:colId xmlns:a16="http://schemas.microsoft.com/office/drawing/2014/main" val="3871095475"/>
                    </a:ext>
                  </a:extLst>
                </a:gridCol>
                <a:gridCol w="2105612">
                  <a:extLst>
                    <a:ext uri="{9D8B030D-6E8A-4147-A177-3AD203B41FA5}">
                      <a16:colId xmlns:a16="http://schemas.microsoft.com/office/drawing/2014/main" val="3685106684"/>
                    </a:ext>
                  </a:extLst>
                </a:gridCol>
                <a:gridCol w="2105612">
                  <a:extLst>
                    <a:ext uri="{9D8B030D-6E8A-4147-A177-3AD203B41FA5}">
                      <a16:colId xmlns:a16="http://schemas.microsoft.com/office/drawing/2014/main" val="804108636"/>
                    </a:ext>
                  </a:extLst>
                </a:gridCol>
                <a:gridCol w="2105612">
                  <a:extLst>
                    <a:ext uri="{9D8B030D-6E8A-4147-A177-3AD203B41FA5}">
                      <a16:colId xmlns:a16="http://schemas.microsoft.com/office/drawing/2014/main" val="3493566121"/>
                    </a:ext>
                  </a:extLst>
                </a:gridCol>
                <a:gridCol w="2105612">
                  <a:extLst>
                    <a:ext uri="{9D8B030D-6E8A-4147-A177-3AD203B41FA5}">
                      <a16:colId xmlns:a16="http://schemas.microsoft.com/office/drawing/2014/main" val="3664760116"/>
                    </a:ext>
                  </a:extLst>
                </a:gridCol>
              </a:tblGrid>
              <a:tr h="782014">
                <a:tc>
                  <a:txBody>
                    <a:bodyPr/>
                    <a:lstStyle/>
                    <a:p>
                      <a:r>
                        <a:rPr lang="en-GB" sz="1600" dirty="0" err="1">
                          <a:solidFill>
                            <a:srgbClr val="000000"/>
                          </a:solidFill>
                          <a:latin typeface="Times New Roman" panose="02020603050405020304" pitchFamily="18" charset="0"/>
                          <a:cs typeface="Times New Roman" panose="02020603050405020304" pitchFamily="18" charset="0"/>
                        </a:rPr>
                        <a:t>Sản</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phẩm</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Thất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thoát</a:t>
                      </a:r>
                      <a:r>
                        <a:rPr lang="en-GB" sz="1600" dirty="0">
                          <a:solidFill>
                            <a:srgbClr val="000000"/>
                          </a:solidFill>
                          <a:latin typeface="Times New Roman" panose="02020603050405020304" pitchFamily="18" charset="0"/>
                          <a:cs typeface="Times New Roman" panose="02020603050405020304" pitchFamily="18" charset="0"/>
                        </a:rPr>
                        <a:t> 2013 (</a:t>
                      </a:r>
                      <a:r>
                        <a:rPr lang="en-GB" sz="1600" dirty="0" err="1">
                          <a:solidFill>
                            <a:srgbClr val="000000"/>
                          </a:solidFill>
                          <a:latin typeface="Times New Roman" panose="02020603050405020304" pitchFamily="18" charset="0"/>
                          <a:cs typeface="Times New Roman" panose="02020603050405020304" pitchFamily="18" charset="0"/>
                        </a:rPr>
                        <a:t>Số</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tiền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Thất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thoát</a:t>
                      </a:r>
                      <a:r>
                        <a:rPr lang="en-GB" sz="1600" dirty="0">
                          <a:solidFill>
                            <a:srgbClr val="000000"/>
                          </a:solidFill>
                          <a:latin typeface="Times New Roman" panose="02020603050405020304" pitchFamily="18" charset="0"/>
                          <a:cs typeface="Times New Roman" panose="02020603050405020304" pitchFamily="18" charset="0"/>
                        </a:rPr>
                        <a:t> 2014 (</a:t>
                      </a:r>
                      <a:r>
                        <a:rPr lang="en-GB" sz="1600" dirty="0" err="1">
                          <a:solidFill>
                            <a:srgbClr val="000000"/>
                          </a:solidFill>
                          <a:latin typeface="Times New Roman" panose="02020603050405020304" pitchFamily="18" charset="0"/>
                          <a:cs typeface="Times New Roman" panose="02020603050405020304" pitchFamily="18" charset="0"/>
                        </a:rPr>
                        <a:t>Số</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tiền</a:t>
                      </a:r>
                      <a:r>
                        <a:rPr lang="en-GB" sz="1600" dirty="0">
                          <a:solidFill>
                            <a:srgbClr val="000000"/>
                          </a:solidFill>
                          <a:latin typeface="Times New Roman" panose="02020603050405020304" pitchFamily="18" charset="0"/>
                          <a:cs typeface="Times New Roman" panose="02020603050405020304" pitchFamily="18" charset="0"/>
                        </a:rPr>
                        <a:t>)</a:t>
                      </a: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Mức</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tăng</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thất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thoát</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err="1">
                          <a:solidFill>
                            <a:srgbClr val="000000"/>
                          </a:solidFill>
                          <a:latin typeface="Times New Roman" panose="02020603050405020304" pitchFamily="18" charset="0"/>
                          <a:cs typeface="Times New Roman" panose="02020603050405020304" pitchFamily="18" charset="0"/>
                        </a:rPr>
                        <a:t>Tỷ</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lệ</a:t>
                      </a:r>
                      <a:r>
                        <a:rPr lang="en-GB" sz="1600" dirty="0">
                          <a:solidFill>
                            <a:srgbClr val="000000"/>
                          </a:solidFill>
                          <a:latin typeface="Times New Roman" panose="02020603050405020304" pitchFamily="18" charset="0"/>
                          <a:cs typeface="Times New Roman" panose="02020603050405020304" pitchFamily="18" charset="0"/>
                        </a:rPr>
                        <a:t> % </a:t>
                      </a:r>
                      <a:r>
                        <a:rPr lang="en-GB" sz="1600" dirty="0" err="1">
                          <a:solidFill>
                            <a:srgbClr val="000000"/>
                          </a:solidFill>
                          <a:latin typeface="Times New Roman" panose="02020603050405020304" pitchFamily="18" charset="0"/>
                          <a:cs typeface="Times New Roman" panose="02020603050405020304" pitchFamily="18" charset="0"/>
                        </a:rPr>
                        <a:t>thất</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thoát</a:t>
                      </a:r>
                      <a:r>
                        <a:rPr lang="en-GB" sz="1600" dirty="0">
                          <a:solidFill>
                            <a:srgbClr val="000000"/>
                          </a:solidFill>
                          <a:latin typeface="Times New Roman" panose="02020603050405020304" pitchFamily="18" charset="0"/>
                          <a:cs typeface="Times New Roman" panose="02020603050405020304" pitchFamily="18" charset="0"/>
                        </a:rPr>
                        <a:t> (2014)</a:t>
                      </a:r>
                    </a:p>
                  </a:txBody>
                  <a:tcPr/>
                </a:tc>
                <a:extLst>
                  <a:ext uri="{0D108BD9-81ED-4DB2-BD59-A6C34878D82A}">
                    <a16:rowId xmlns:a16="http://schemas.microsoft.com/office/drawing/2014/main" val="433614707"/>
                  </a:ext>
                </a:extLst>
              </a:tr>
              <a:tr h="782014">
                <a:tc>
                  <a:txBody>
                    <a:bodyPr/>
                    <a:lstStyle/>
                    <a:p>
                      <a:r>
                        <a:rPr lang="en-GB" sz="1600" dirty="0" err="1">
                          <a:solidFill>
                            <a:srgbClr val="000000"/>
                          </a:solidFill>
                          <a:latin typeface="Times New Roman" panose="02020603050405020304" pitchFamily="18" charset="0"/>
                          <a:cs typeface="Times New Roman" panose="02020603050405020304" pitchFamily="18" charset="0"/>
                        </a:rPr>
                        <a:t>Paseo</a:t>
                      </a:r>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531,621</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2,068,896</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+289%</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7.64%</a:t>
                      </a:r>
                    </a:p>
                  </a:txBody>
                  <a:tcPr/>
                </a:tc>
                <a:extLst>
                  <a:ext uri="{0D108BD9-81ED-4DB2-BD59-A6C34878D82A}">
                    <a16:rowId xmlns:a16="http://schemas.microsoft.com/office/drawing/2014/main" val="1522558697"/>
                  </a:ext>
                </a:extLst>
              </a:tr>
              <a:tr h="782014">
                <a:tc>
                  <a:txBody>
                    <a:bodyPr/>
                    <a:lstStyle/>
                    <a:p>
                      <a:r>
                        <a:rPr lang="en-GB" sz="1600" dirty="0">
                          <a:solidFill>
                            <a:srgbClr val="000000"/>
                          </a:solidFill>
                          <a:latin typeface="Times New Roman" panose="02020603050405020304" pitchFamily="18" charset="0"/>
                          <a:cs typeface="Times New Roman" panose="02020603050405020304" pitchFamily="18" charset="0"/>
                        </a:rPr>
                        <a:t>Amarilla</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189,602</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1,100,560</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+480%</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7.74%</a:t>
                      </a:r>
                    </a:p>
                  </a:txBody>
                  <a:tcPr/>
                </a:tc>
                <a:extLst>
                  <a:ext uri="{0D108BD9-81ED-4DB2-BD59-A6C34878D82A}">
                    <a16:rowId xmlns:a16="http://schemas.microsoft.com/office/drawing/2014/main" val="349534335"/>
                  </a:ext>
                </a:extLst>
              </a:tr>
              <a:tr h="782014">
                <a:tc>
                  <a:txBody>
                    <a:bodyPr/>
                    <a:lstStyle/>
                    <a:p>
                      <a:r>
                        <a:rPr lang="en-GB" sz="1600" dirty="0">
                          <a:solidFill>
                            <a:srgbClr val="000000"/>
                          </a:solidFill>
                          <a:latin typeface="Times New Roman" panose="02020603050405020304" pitchFamily="18" charset="0"/>
                          <a:cs typeface="Times New Roman" panose="02020603050405020304" pitchFamily="18" charset="0"/>
                        </a:rPr>
                        <a:t>VTT</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427,220</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1,029,391</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+140%</a:t>
                      </a:r>
                    </a:p>
                  </a:txBody>
                  <a:tcPr/>
                </a:tc>
                <a:tc>
                  <a:txBody>
                    <a:bodyPr/>
                    <a:lstStyle/>
                    <a:p>
                      <a:r>
                        <a:rPr lang="en-GB" sz="1600" b="1" dirty="0">
                          <a:solidFill>
                            <a:srgbClr val="000000"/>
                          </a:solidFill>
                          <a:latin typeface="Times New Roman" panose="02020603050405020304" pitchFamily="18" charset="0"/>
                          <a:cs typeface="Times New Roman" panose="02020603050405020304" pitchFamily="18" charset="0"/>
                        </a:rPr>
                        <a:t>6.81%</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Thấp</a:t>
                      </a:r>
                      <a:r>
                        <a:rPr lang="en-GB" sz="1600" dirty="0">
                          <a:solidFill>
                            <a:srgbClr val="000000"/>
                          </a:solidFill>
                          <a:latin typeface="Times New Roman" panose="02020603050405020304" pitchFamily="18" charset="0"/>
                          <a:cs typeface="Times New Roman" panose="02020603050405020304" pitchFamily="18" charset="0"/>
                        </a:rPr>
                        <a:t> </a:t>
                      </a:r>
                      <a:r>
                        <a:rPr lang="en-GB" sz="1600" dirty="0" err="1">
                          <a:solidFill>
                            <a:srgbClr val="000000"/>
                          </a:solidFill>
                          <a:latin typeface="Times New Roman" panose="02020603050405020304" pitchFamily="18" charset="0"/>
                          <a:cs typeface="Times New Roman" panose="02020603050405020304" pitchFamily="18" charset="0"/>
                        </a:rPr>
                        <a:t>nhất</a:t>
                      </a:r>
                      <a:r>
                        <a:rPr lang="en-GB" sz="1600" dirty="0">
                          <a:solidFill>
                            <a:srgbClr val="000000"/>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055534317"/>
                  </a:ext>
                </a:extLst>
              </a:tr>
              <a:tr h="782014">
                <a:tc>
                  <a:txBody>
                    <a:bodyPr/>
                    <a:lstStyle/>
                    <a:p>
                      <a:r>
                        <a:rPr lang="en-GB" sz="1600" dirty="0">
                          <a:solidFill>
                            <a:srgbClr val="000000"/>
                          </a:solidFill>
                          <a:latin typeface="Times New Roman" panose="02020603050405020304" pitchFamily="18" charset="0"/>
                          <a:cs typeface="Times New Roman" panose="02020603050405020304" pitchFamily="18" charset="0"/>
                        </a:rPr>
                        <a:t>Carretera</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149,256</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972,956</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+551%</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7.84%</a:t>
                      </a:r>
                    </a:p>
                  </a:txBody>
                  <a:tcPr/>
                </a:tc>
                <a:extLst>
                  <a:ext uri="{0D108BD9-81ED-4DB2-BD59-A6C34878D82A}">
                    <a16:rowId xmlns:a16="http://schemas.microsoft.com/office/drawing/2014/main" val="1432621978"/>
                  </a:ext>
                </a:extLst>
              </a:tr>
              <a:tr h="782014">
                <a:tc>
                  <a:txBody>
                    <a:bodyPr/>
                    <a:lstStyle/>
                    <a:p>
                      <a:r>
                        <a:rPr lang="en-GB" sz="1600" dirty="0">
                          <a:solidFill>
                            <a:srgbClr val="000000"/>
                          </a:solidFill>
                          <a:latin typeface="Times New Roman" panose="02020603050405020304" pitchFamily="18" charset="0"/>
                          <a:cs typeface="Times New Roman" panose="02020603050405020304" pitchFamily="18" charset="0"/>
                        </a:rPr>
                        <a:t>Velo</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610,629</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966,079</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+58%</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8.02%</a:t>
                      </a:r>
                    </a:p>
                  </a:txBody>
                  <a:tcPr/>
                </a:tc>
                <a:extLst>
                  <a:ext uri="{0D108BD9-81ED-4DB2-BD59-A6C34878D82A}">
                    <a16:rowId xmlns:a16="http://schemas.microsoft.com/office/drawing/2014/main" val="1728377554"/>
                  </a:ext>
                </a:extLst>
              </a:tr>
              <a:tr h="782014">
                <a:tc>
                  <a:txBody>
                    <a:bodyPr/>
                    <a:lstStyle/>
                    <a:p>
                      <a:r>
                        <a:rPr lang="en-GB" sz="1600" dirty="0">
                          <a:solidFill>
                            <a:srgbClr val="000000"/>
                          </a:solidFill>
                          <a:latin typeface="Times New Roman" panose="02020603050405020304" pitchFamily="18" charset="0"/>
                          <a:cs typeface="Times New Roman" panose="02020603050405020304" pitchFamily="18" charset="0"/>
                        </a:rPr>
                        <a:t>Montana</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237,200</a:t>
                      </a:r>
                    </a:p>
                  </a:txBody>
                  <a:tcPr/>
                </a:tc>
                <a:tc>
                  <a:txBody>
                    <a:bodyPr/>
                    <a:lstStyle/>
                    <a:p>
                      <a:r>
                        <a:rPr lang="en-GB" sz="1600" dirty="0">
                          <a:solidFill>
                            <a:srgbClr val="000000"/>
                          </a:solidFill>
                          <a:latin typeface="Times New Roman" panose="02020603050405020304" pitchFamily="18" charset="0"/>
                          <a:cs typeface="Times New Roman" panose="02020603050405020304" pitchFamily="18" charset="0"/>
                        </a:rPr>
                        <a:t>921,831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rgbClr val="000000"/>
                          </a:solidFill>
                          <a:latin typeface="Times New Roman" panose="02020603050405020304" pitchFamily="18" charset="0"/>
                          <a:cs typeface="Times New Roman" panose="02020603050405020304" pitchFamily="18" charset="0"/>
                        </a:rPr>
                        <a:t>+288%</a:t>
                      </a:r>
                    </a:p>
                    <a:p>
                      <a:endParaRPr lang="en-GB"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r>
                        <a:rPr lang="en-GB" sz="1600" b="1" dirty="0">
                          <a:solidFill>
                            <a:srgbClr val="000000"/>
                          </a:solidFill>
                          <a:latin typeface="Times New Roman" panose="02020603050405020304" pitchFamily="18" charset="0"/>
                          <a:cs typeface="Times New Roman" panose="02020603050405020304" pitchFamily="18" charset="0"/>
                        </a:rPr>
                        <a:t>8.08%</a:t>
                      </a:r>
                      <a:r>
                        <a:rPr lang="en-GB" sz="1600" dirty="0">
                          <a:solidFill>
                            <a:srgbClr val="000000"/>
                          </a:solidFill>
                          <a:latin typeface="Times New Roman" panose="02020603050405020304" pitchFamily="18" charset="0"/>
                          <a:cs typeface="Times New Roman" panose="02020603050405020304" pitchFamily="18" charset="0"/>
                        </a:rPr>
                        <a:t> (Cao </a:t>
                      </a:r>
                      <a:r>
                        <a:rPr lang="en-GB" sz="1600" dirty="0" err="1">
                          <a:solidFill>
                            <a:srgbClr val="000000"/>
                          </a:solidFill>
                          <a:latin typeface="Times New Roman" panose="02020603050405020304" pitchFamily="18" charset="0"/>
                          <a:cs typeface="Times New Roman" panose="02020603050405020304" pitchFamily="18" charset="0"/>
                        </a:rPr>
                        <a:t>nhất</a:t>
                      </a:r>
                      <a:r>
                        <a:rPr lang="en-GB" sz="1600" dirty="0">
                          <a:solidFill>
                            <a:srgbClr val="000000"/>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772267028"/>
                  </a:ext>
                </a:extLst>
              </a:tr>
            </a:tbl>
          </a:graphicData>
        </a:graphic>
      </p:graphicFrame>
      <p:sp>
        <p:nvSpPr>
          <p:cNvPr id="4" name="TextBox 3">
            <a:extLst>
              <a:ext uri="{FF2B5EF4-FFF2-40B4-BE49-F238E27FC236}">
                <a16:creationId xmlns:a16="http://schemas.microsoft.com/office/drawing/2014/main" id="{E6A8BA1D-1A25-6B65-7417-7E2218777675}"/>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1. </a:t>
            </a:r>
            <a:r>
              <a:rPr lang="en-US" b="1" dirty="0" err="1">
                <a:solidFill>
                  <a:srgbClr val="000000"/>
                </a:solidFill>
                <a:latin typeface="Times New Roman" panose="02020603050405020304" pitchFamily="18" charset="0"/>
                <a:cs typeface="Times New Roman" panose="02020603050405020304" pitchFamily="18" charset="0"/>
              </a:rPr>
              <a:t>Bảng</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tóm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tắt</a:t>
            </a:r>
            <a:r>
              <a:rPr lang="en-US" b="1" dirty="0">
                <a:solidFill>
                  <a:srgbClr val="000000"/>
                </a:solidFill>
                <a:latin typeface="Times New Roman" panose="02020603050405020304" pitchFamily="18" charset="0"/>
                <a:cs typeface="Times New Roman" panose="02020603050405020304" pitchFamily="18" charset="0"/>
              </a:rPr>
              <a:t> chi </a:t>
            </a:r>
            <a:r>
              <a:rPr lang="en-US" b="1" dirty="0" err="1">
                <a:solidFill>
                  <a:srgbClr val="000000"/>
                </a:solidFill>
                <a:latin typeface="Times New Roman" panose="02020603050405020304" pitchFamily="18" charset="0"/>
                <a:cs typeface="Times New Roman" panose="02020603050405020304" pitchFamily="18" charset="0"/>
              </a:rPr>
              <a:t>tiết</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thất</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thoát</a:t>
            </a:r>
            <a:r>
              <a:rPr lang="en-US" b="1" dirty="0">
                <a:solidFill>
                  <a:srgbClr val="000000"/>
                </a:solidFill>
                <a:latin typeface="Times New Roman" panose="02020603050405020304" pitchFamily="18" charset="0"/>
                <a:cs typeface="Times New Roman" panose="02020603050405020304" pitchFamily="18" charset="0"/>
              </a:rPr>
              <a:t> do </a:t>
            </a:r>
            <a:r>
              <a:rPr lang="en-US" b="1" dirty="0" err="1">
                <a:solidFill>
                  <a:srgbClr val="000000"/>
                </a:solidFill>
                <a:latin typeface="Times New Roman" panose="02020603050405020304" pitchFamily="18" charset="0"/>
                <a:cs typeface="Times New Roman" panose="02020603050405020304" pitchFamily="18" charset="0"/>
              </a:rPr>
              <a:t>giảm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giá</a:t>
            </a:r>
            <a:endParaRPr lang="en-US"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3911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3AABF76-F42A-5213-B615-6C140041CC74}"/>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pPr rtl="0"/>
              <a:t>18</a:t>
            </a:fld>
            <a:endParaRPr lang="en-GB" dirty="0"/>
          </a:p>
        </p:txBody>
      </p:sp>
      <p:sp>
        <p:nvSpPr>
          <p:cNvPr id="24" name="Title 1">
            <a:extLst>
              <a:ext uri="{FF2B5EF4-FFF2-40B4-BE49-F238E27FC236}">
                <a16:creationId xmlns:a16="http://schemas.microsoft.com/office/drawing/2014/main" id="{B78A9F18-99F3-B824-CCD1-4941D825BBE1}"/>
              </a:ext>
            </a:extLst>
          </p:cNvPr>
          <p:cNvSpPr txBox="1">
            <a:spLocks/>
          </p:cNvSpPr>
          <p:nvPr/>
        </p:nvSpPr>
        <p:spPr>
          <a:xfrm>
            <a:off x="1524000" y="1122363"/>
            <a:ext cx="9144000" cy="2387600"/>
          </a:xfrm>
          <a:prstGeom prst="rect">
            <a:avLst/>
          </a:prstGeom>
        </p:spPr>
        <p:txBody>
          <a:bodyPr vert="horz" lIns="91440" tIns="45720" rIns="91440" bIns="45720" rtlCol="0" anchor="ctr">
            <a:noAutofit/>
          </a:bodyPr>
          <a:lstStyle>
            <a:defPPr>
              <a:defRPr lang="en-GB"/>
            </a:defPPr>
            <a:lvl1pPr algn="l" defTabSz="914400" rtl="0" eaLnBrk="1" latinLnBrk="0" hangingPunct="1">
              <a:lnSpc>
                <a:spcPct val="90000"/>
              </a:lnSpc>
              <a:spcBef>
                <a:spcPct val="0"/>
              </a:spcBef>
              <a:buNone/>
              <a:defRPr lang="en-GB" sz="4800" kern="1200">
                <a:solidFill>
                  <a:schemeClr val="accent1"/>
                </a:solidFill>
                <a:latin typeface="+mj-lt"/>
                <a:ea typeface="+mj-ea"/>
                <a:cs typeface="+mj-cs"/>
              </a:defRPr>
            </a:lvl1pPr>
          </a:lstStyle>
          <a:p>
            <a:endParaRPr lang="en-US" dirty="0">
              <a:solidFill>
                <a:srgbClr val="F8F3F0"/>
              </a:solidFill>
            </a:endParaRPr>
          </a:p>
        </p:txBody>
      </p:sp>
      <p:sp>
        <p:nvSpPr>
          <p:cNvPr id="2" name="Text Placeholder 26">
            <a:extLst>
              <a:ext uri="{FF2B5EF4-FFF2-40B4-BE49-F238E27FC236}">
                <a16:creationId xmlns:a16="http://schemas.microsoft.com/office/drawing/2014/main" id="{349839AF-4083-75A5-4070-10A67124997B}"/>
              </a:ext>
            </a:extLst>
          </p:cNvPr>
          <p:cNvSpPr txBox="1">
            <a:spLocks/>
          </p:cNvSpPr>
          <p:nvPr/>
        </p:nvSpPr>
        <p:spPr>
          <a:xfrm>
            <a:off x="377837" y="533234"/>
            <a:ext cx="10974699" cy="5822828"/>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r>
              <a:rPr lang="en-US" sz="1600" dirty="0">
                <a:solidFill>
                  <a:srgbClr val="000000"/>
                </a:solidFill>
                <a:latin typeface="Times New Roman" panose="02020603050405020304" pitchFamily="18" charset="0"/>
                <a:cs typeface="Times New Roman" panose="02020603050405020304" pitchFamily="18" charset="0"/>
              </a:rPr>
              <a:t>1. </a:t>
            </a:r>
            <a:r>
              <a:rPr lang="vi-VN" sz="1600" dirty="0">
                <a:solidFill>
                  <a:srgbClr val="000000"/>
                </a:solidFill>
                <a:latin typeface="Times New Roman" panose="02020603050405020304" pitchFamily="18" charset="0"/>
                <a:cs typeface="Times New Roman" panose="02020603050405020304" pitchFamily="18" charset="0"/>
              </a:rPr>
              <a:t>Paseo</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600" dirty="0">
                <a:solidFill>
                  <a:srgbClr val="000000"/>
                </a:solidFill>
                <a:latin typeface="Times New Roman" panose="02020603050405020304" pitchFamily="18" charset="0"/>
                <a:cs typeface="Times New Roman" panose="02020603050405020304" pitchFamily="18" charset="0"/>
              </a:rPr>
              <a:t>- </a:t>
            </a:r>
            <a:r>
              <a:rPr lang="vi-VN" sz="1600" dirty="0">
                <a:solidFill>
                  <a:srgbClr val="000000"/>
                </a:solidFill>
                <a:latin typeface="Times New Roman" panose="02020603050405020304" pitchFamily="18" charset="0"/>
                <a:cs typeface="Times New Roman" panose="02020603050405020304" pitchFamily="18" charset="0"/>
              </a:rPr>
              <a:t>Năm 2014, Paseo là sản phẩm bị thất thoát nhiều nhất về con số tuyệt đối (hơn 2 triệu).Tuy nhiên, hãy nhìn vào lợi nhuận: Nó thu về 3.69 triệu (cao nhất bảng). Điều này cho thấy với Paseo, việc giảm giá là một chiến thuật "thả con săn sắt, bắt con cá rô" cực kỳ thành công.</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2. VTT </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600" dirty="0">
                <a:solidFill>
                  <a:srgbClr val="000000"/>
                </a:solidFill>
                <a:latin typeface="Times New Roman" panose="02020603050405020304" pitchFamily="18" charset="0"/>
                <a:cs typeface="Times New Roman" panose="02020603050405020304" pitchFamily="18" charset="0"/>
              </a:rPr>
              <a:t>- </a:t>
            </a:r>
            <a:r>
              <a:rPr lang="vi-VN" sz="1600" dirty="0">
                <a:solidFill>
                  <a:srgbClr val="000000"/>
                </a:solidFill>
                <a:latin typeface="Times New Roman" panose="02020603050405020304" pitchFamily="18" charset="0"/>
                <a:cs typeface="Times New Roman" panose="02020603050405020304" pitchFamily="18" charset="0"/>
              </a:rPr>
              <a:t>Đây là sản phẩm </a:t>
            </a:r>
            <a:r>
              <a:rPr lang="en-US" sz="1600" dirty="0" err="1">
                <a:solidFill>
                  <a:srgbClr val="000000"/>
                </a:solidFill>
                <a:latin typeface="Times New Roman" panose="02020603050405020304" pitchFamily="18" charset="0"/>
                <a:cs typeface="Times New Roman" panose="02020603050405020304" pitchFamily="18" charset="0"/>
              </a:rPr>
              <a:t>tốt</a:t>
            </a:r>
            <a:r>
              <a:rPr lang="vi-VN" sz="1600" dirty="0">
                <a:solidFill>
                  <a:srgbClr val="000000"/>
                </a:solidFill>
                <a:latin typeface="Times New Roman" panose="02020603050405020304" pitchFamily="18" charset="0"/>
                <a:cs typeface="Times New Roman" panose="02020603050405020304" pitchFamily="18" charset="0"/>
              </a:rPr>
              <a:t> nhất. Mặc dù doanh thu đứng thứ 2, nhưng tỷ lệ thất thoát do giảm giá của nó lại thấp nhất hệ thống (6.81%).So với năm 2013 (thất thoát 7.91%), VTT đã cải thiện quy trình chiết khấu rất tốt, giúp giữ lại được nhiều lợi nhuận hơn trên mỗi đồng doanh thu.</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3. Carretera </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a:t>
            </a:r>
            <a:r>
              <a:rPr lang="en-US" sz="1600" dirty="0">
                <a:solidFill>
                  <a:srgbClr val="000000"/>
                </a:solidFill>
                <a:latin typeface="Times New Roman" panose="02020603050405020304" pitchFamily="18" charset="0"/>
                <a:cs typeface="Times New Roman" panose="02020603050405020304" pitchFamily="18" charset="0"/>
              </a:rPr>
              <a:t> </a:t>
            </a:r>
            <a:r>
              <a:rPr lang="vi-VN" sz="1600" dirty="0">
                <a:solidFill>
                  <a:srgbClr val="000000"/>
                </a:solidFill>
                <a:latin typeface="Times New Roman" panose="02020603050405020304" pitchFamily="18" charset="0"/>
                <a:cs typeface="Times New Roman" panose="02020603050405020304" pitchFamily="18" charset="0"/>
              </a:rPr>
              <a:t>Năm 2013, Carretera là "đứa trẻ hư" với tỷ lệ thất thoát kỷ lục 10.61% mà lợi nhuận thì lẹt đẹt (38k).Sang 2014, dù số tiền thất thoát tăng lên do bán được nhiều hàng hơn, nhưng tỷ lệ % đã kéo xuống còn 7.84%. Lợi nhuận từ 38k vọt lên 1.78 triệu. Đây là cú lội ngược dòng ngoạn mục nhất về việc kiểm soát thất thoát.</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4. Velo </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-Velo là sản phẩm duy nhất có mức tăng số tiền thất thoát thấp nhất (chỉ tăng 58% trong khi doanh thu tăng mạnh).Năm 2013, Velo "đốt" tiền giảm giá rất kinh (chiếm gần 1/3 tổng giảm giá toàn công ty). Sang 2014, nó đã bị "siết" lại, nhường sân chơi giảm giá cho các sản phẩm khác hiệu quả hơn.</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5. Montana </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vi-VN" sz="1600" dirty="0">
                <a:solidFill>
                  <a:srgbClr val="000000"/>
                </a:solidFill>
                <a:latin typeface="Times New Roman" panose="02020603050405020304" pitchFamily="18" charset="0"/>
                <a:cs typeface="Times New Roman" panose="02020603050405020304" pitchFamily="18" charset="0"/>
              </a:rPr>
              <a:t>- Montana năm 2014 có tỷ lệ thất thoát cao nhất (8.08%).Nếu nhìn vào biểu đồ bong bóng, các chấm của Montana nằm khá thấp so với các sản phẩm khác, cho thấy việc giảm giá cho sản phẩm này chưa mang lại "cú hích" lợi nhuận tương xứng như Paseo hay VTT.</a:t>
            </a:r>
            <a:endParaRPr lang="en-US" sz="16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600" b="1" dirty="0" err="1">
                <a:solidFill>
                  <a:srgbClr val="000000"/>
                </a:solidFill>
                <a:latin typeface="Times New Roman" panose="02020603050405020304" pitchFamily="18" charset="0"/>
                <a:cs typeface="Times New Roman" panose="02020603050405020304" pitchFamily="18" charset="0"/>
              </a:rPr>
              <a:t>Tóm</a:t>
            </a:r>
            <a:r>
              <a:rPr lang="en-US" sz="1600" b="1" dirty="0">
                <a:solidFill>
                  <a:srgbClr val="000000"/>
                </a:solidFill>
                <a:latin typeface="Times New Roman" panose="02020603050405020304" pitchFamily="18" charset="0"/>
                <a:cs typeface="Times New Roman" panose="02020603050405020304" pitchFamily="18" charset="0"/>
              </a:rPr>
              <a:t> </a:t>
            </a:r>
            <a:r>
              <a:rPr lang="en-US" sz="1600" b="1" dirty="0" err="1">
                <a:solidFill>
                  <a:srgbClr val="000000"/>
                </a:solidFill>
                <a:latin typeface="Times New Roman" panose="02020603050405020304" pitchFamily="18" charset="0"/>
                <a:cs typeface="Times New Roman" panose="02020603050405020304" pitchFamily="18" charset="0"/>
              </a:rPr>
              <a:t>lại</a:t>
            </a: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a:t>
            </a:r>
            <a:r>
              <a:rPr lang="vi-VN" sz="1600" dirty="0">
                <a:solidFill>
                  <a:srgbClr val="000000"/>
                </a:solidFill>
                <a:latin typeface="Times New Roman" panose="02020603050405020304" pitchFamily="18" charset="0"/>
                <a:cs typeface="Times New Roman" panose="02020603050405020304" pitchFamily="18" charset="0"/>
              </a:rPr>
              <a:t> Mặc dù tổng số tiền thất thoát năm 2014 (7.05M) cao gấp hơn 3 lần năm 2013 (2.14M), nhưng đây là sự </a:t>
            </a:r>
            <a:r>
              <a:rPr lang="vi-VN" sz="1600" b="1" dirty="0">
                <a:solidFill>
                  <a:srgbClr val="000000"/>
                </a:solidFill>
                <a:latin typeface="Times New Roman" panose="02020603050405020304" pitchFamily="18" charset="0"/>
                <a:cs typeface="Times New Roman" panose="02020603050405020304" pitchFamily="18" charset="0"/>
              </a:rPr>
              <a:t>"thất thoát có tính toán"</a:t>
            </a:r>
            <a:r>
              <a:rPr lang="vi-VN" sz="1600" dirty="0">
                <a:solidFill>
                  <a:srgbClr val="000000"/>
                </a:solidFill>
                <a:latin typeface="Times New Roman" panose="02020603050405020304" pitchFamily="18" charset="0"/>
                <a:cs typeface="Times New Roman" panose="02020603050405020304" pitchFamily="18" charset="0"/>
              </a:rPr>
              <a:t>. Công ty đã dồn tiền giảm giá vào các mặt hàng mang lại lợi nhuận cao (Paseo, Amarilla) và siết chặt kỷ luật ở những mặt hàng từng bị lãng phí (Velo, Carretera).</a:t>
            </a:r>
          </a:p>
          <a:p>
            <a:pPr marL="0" indent="0">
              <a:buNone/>
            </a:pPr>
            <a:endParaRPr lang="vi-VN" sz="1600" dirty="0">
              <a:solidFill>
                <a:srgbClr val="0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C749B33-DC8F-5E76-7BA7-227895EED201}"/>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2. </a:t>
            </a:r>
            <a:r>
              <a:rPr lang="en-US" b="1" dirty="0" err="1">
                <a:solidFill>
                  <a:srgbClr val="000000"/>
                </a:solidFill>
                <a:latin typeface="Times New Roman" panose="02020603050405020304" pitchFamily="18" charset="0"/>
                <a:cs typeface="Times New Roman" panose="02020603050405020304" pitchFamily="18" charset="0"/>
              </a:rPr>
              <a:t>Tóm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tắt</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các</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sản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phẩm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sau</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khi</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áp</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mã</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giảm</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giá</a:t>
            </a:r>
            <a:endParaRPr lang="en-US"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187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rtlCol="0"/>
          <a:lstStyle>
            <a:defPPr>
              <a:defRPr lang="en-GB"/>
            </a:defPPr>
          </a:lstStyle>
          <a:p>
            <a:pPr rtl="0"/>
            <a:r>
              <a:rPr lang="en-US" dirty="0" err="1">
                <a:solidFill>
                  <a:srgbClr val="000000"/>
                </a:solidFill>
                <a:latin typeface="Times New Roman" panose="02020603050405020304" pitchFamily="18" charset="0"/>
                <a:cs typeface="Times New Roman" panose="02020603050405020304" pitchFamily="18" charset="0"/>
              </a:rPr>
              <a:t>Nguyên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nhân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và</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giải</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pháp</a:t>
            </a:r>
            <a:endParaRPr lang="en-GB"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123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6">
            <a:extLst>
              <a:ext uri="{FF2B5EF4-FFF2-40B4-BE49-F238E27FC236}">
                <a16:creationId xmlns:a16="http://schemas.microsoft.com/office/drawing/2014/main" id="{EFC596FD-D882-8562-73DF-B261867774AE}"/>
              </a:ext>
            </a:extLst>
          </p:cNvPr>
          <p:cNvSpPr txBox="1">
            <a:spLocks/>
          </p:cNvSpPr>
          <p:nvPr/>
        </p:nvSpPr>
        <p:spPr>
          <a:xfrm>
            <a:off x="377662" y="297096"/>
            <a:ext cx="10974699" cy="5822828"/>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p>
          <a:p>
            <a:pPr marL="0" indent="0">
              <a:buNone/>
            </a:pPr>
            <a:endParaRPr lang="vi-VN" dirty="0">
              <a:latin typeface="+mj-lt"/>
            </a:endParaRPr>
          </a:p>
        </p:txBody>
      </p:sp>
      <p:sp>
        <p:nvSpPr>
          <p:cNvPr id="4" name="TextBox 3">
            <a:extLst>
              <a:ext uri="{FF2B5EF4-FFF2-40B4-BE49-F238E27FC236}">
                <a16:creationId xmlns:a16="http://schemas.microsoft.com/office/drawing/2014/main" id="{5B6B1AD5-C277-71B0-B538-A8D7B37567E9}"/>
              </a:ext>
            </a:extLst>
          </p:cNvPr>
          <p:cNvSpPr txBox="1"/>
          <p:nvPr/>
        </p:nvSpPr>
        <p:spPr>
          <a:xfrm>
            <a:off x="377662" y="533234"/>
            <a:ext cx="11350206" cy="5755422"/>
          </a:xfrm>
          <a:prstGeom prst="rect">
            <a:avLst/>
          </a:prstGeom>
          <a:noFill/>
        </p:spPr>
        <p:txBody>
          <a:bodyPr wrap="square">
            <a:spAutoFit/>
          </a:bodyPr>
          <a:lstStyle/>
          <a:p>
            <a:r>
              <a:rPr lang="vi-VN" sz="1600" b="1" dirty="0">
                <a:solidFill>
                  <a:srgbClr val="000000"/>
                </a:solidFill>
                <a:latin typeface="Times New Roman" panose="02020603050405020304" pitchFamily="18" charset="0"/>
                <a:cs typeface="Times New Roman" panose="02020603050405020304" pitchFamily="18" charset="0"/>
              </a:rPr>
              <a:t>1. Phân tích "Tử huyệt": Phân khúc Enterprise &amp; Chiến lược giảm giá sai lầm</a:t>
            </a:r>
          </a:p>
          <a:p>
            <a:r>
              <a:rPr lang="vi-VN" sz="1600" dirty="0">
                <a:solidFill>
                  <a:srgbClr val="000000"/>
                </a:solidFill>
                <a:latin typeface="Times New Roman" panose="02020603050405020304" pitchFamily="18" charset="0"/>
                <a:cs typeface="Times New Roman" panose="02020603050405020304" pitchFamily="18" charset="0"/>
              </a:rPr>
              <a:t>Nhìn vào biểu đồ lợi nhuận theo khu vực, chúng ta thấy một nghịch lý chết người: </a:t>
            </a:r>
            <a:r>
              <a:rPr lang="vi-VN" sz="1600" b="1" dirty="0">
                <a:solidFill>
                  <a:srgbClr val="000000"/>
                </a:solidFill>
                <a:latin typeface="Times New Roman" panose="02020603050405020304" pitchFamily="18" charset="0"/>
                <a:cs typeface="Times New Roman" panose="02020603050405020304" pitchFamily="18" charset="0"/>
              </a:rPr>
              <a:t>Doanh thu cao không đi đôi với lợi nhuận.</a:t>
            </a:r>
            <a:endParaRPr lang="vi-VN" sz="1600" dirty="0">
              <a:solidFill>
                <a:srgbClr val="00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Tình trạng "Bán lỗ":</a:t>
            </a:r>
            <a:r>
              <a:rPr lang="vi-VN" sz="1600" dirty="0">
                <a:solidFill>
                  <a:srgbClr val="000000"/>
                </a:solidFill>
                <a:latin typeface="Times New Roman" panose="02020603050405020304" pitchFamily="18" charset="0"/>
                <a:cs typeface="Times New Roman" panose="02020603050405020304" pitchFamily="18" charset="0"/>
              </a:rPr>
              <a:t> Phân khúc Enterprise (màu xanh đậm) luôn nằm ở phần âm của trục lợi nhuận cho tất cả 6 sản phẩm. Đặc biệt là </a:t>
            </a:r>
            <a:r>
              <a:rPr lang="vi-VN" sz="1600" b="1" dirty="0">
                <a:solidFill>
                  <a:srgbClr val="000000"/>
                </a:solidFill>
                <a:latin typeface="Times New Roman" panose="02020603050405020304" pitchFamily="18" charset="0"/>
                <a:cs typeface="Times New Roman" panose="02020603050405020304" pitchFamily="18" charset="0"/>
              </a:rPr>
              <a:t>Carretera</a:t>
            </a:r>
            <a:r>
              <a:rPr lang="vi-VN" sz="1600" dirty="0">
                <a:solidFill>
                  <a:srgbClr val="000000"/>
                </a:solidFill>
                <a:latin typeface="Times New Roman" panose="02020603050405020304" pitchFamily="18" charset="0"/>
                <a:cs typeface="Times New Roman" panose="02020603050405020304" pitchFamily="18" charset="0"/>
              </a:rPr>
              <a:t>, thanh màu xanh đậm kéo dài nhất về bên trái, chứng tỏ đây là "hố đen" lợi nhuận lớn nhất.</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Nguyên nhân thực sự:</a:t>
            </a:r>
            <a:r>
              <a:rPr lang="vi-VN" sz="1600" dirty="0">
                <a:solidFill>
                  <a:srgbClr val="000000"/>
                </a:solidFill>
                <a:latin typeface="Times New Roman" panose="02020603050405020304" pitchFamily="18" charset="0"/>
                <a:cs typeface="Times New Roman" panose="02020603050405020304" pitchFamily="18" charset="0"/>
              </a:rPr>
              <a:t> Năm 2014, nhóm chiết khấu </a:t>
            </a:r>
            <a:r>
              <a:rPr lang="vi-VN" sz="1600" b="1" dirty="0">
                <a:solidFill>
                  <a:srgbClr val="000000"/>
                </a:solidFill>
                <a:latin typeface="Times New Roman" panose="02020603050405020304" pitchFamily="18" charset="0"/>
                <a:cs typeface="Times New Roman" panose="02020603050405020304" pitchFamily="18" charset="0"/>
              </a:rPr>
              <a:t>High</a:t>
            </a:r>
            <a:r>
              <a:rPr lang="vi-VN" sz="1600" dirty="0">
                <a:solidFill>
                  <a:srgbClr val="000000"/>
                </a:solidFill>
                <a:latin typeface="Times New Roman" panose="02020603050405020304" pitchFamily="18" charset="0"/>
                <a:cs typeface="Times New Roman" panose="02020603050405020304" pitchFamily="18" charset="0"/>
              </a:rPr>
              <a:t> (giảm giá sâu) gây thất thoát </a:t>
            </a:r>
            <a:r>
              <a:rPr lang="vi-VN" sz="1600" b="1" dirty="0">
                <a:solidFill>
                  <a:srgbClr val="000000"/>
                </a:solidFill>
                <a:latin typeface="Times New Roman" panose="02020603050405020304" pitchFamily="18" charset="0"/>
                <a:cs typeface="Times New Roman" panose="02020603050405020304" pitchFamily="18" charset="0"/>
              </a:rPr>
              <a:t>5.3 triệu USD</a:t>
            </a:r>
            <a:r>
              <a:rPr lang="vi-VN" sz="1600" dirty="0">
                <a:solidFill>
                  <a:srgbClr val="000000"/>
                </a:solidFill>
                <a:latin typeface="Times New Roman" panose="02020603050405020304" pitchFamily="18" charset="0"/>
                <a:cs typeface="Times New Roman" panose="02020603050405020304" pitchFamily="18" charset="0"/>
              </a:rPr>
              <a:t>, chiếm hơn 57% tổng số tiền giảm giá của toàn công ty. Phân khúc Enterprise thường mua số lượng lớn và ép giá, nếu đội ngũ kinh doanh áp dụng mức chiết khấu "High" (trung bình </a:t>
            </a:r>
            <a:r>
              <a:rPr lang="vi-VN" sz="1600" b="1" dirty="0">
                <a:solidFill>
                  <a:srgbClr val="000000"/>
                </a:solidFill>
                <a:latin typeface="Times New Roman" panose="02020603050405020304" pitchFamily="18" charset="0"/>
                <a:cs typeface="Times New Roman" panose="02020603050405020304" pitchFamily="18" charset="0"/>
              </a:rPr>
              <a:t>14.23%</a:t>
            </a:r>
            <a:r>
              <a:rPr lang="vi-VN" sz="1600" dirty="0">
                <a:solidFill>
                  <a:srgbClr val="000000"/>
                </a:solidFill>
                <a:latin typeface="Times New Roman" panose="02020603050405020304" pitchFamily="18" charset="0"/>
                <a:cs typeface="Times New Roman" panose="02020603050405020304" pitchFamily="18" charset="0"/>
              </a:rPr>
              <a:t>) cho họ, công ty sẽ rơi vào trạng thái âm vốn vì biên lợi nhuận gốc không đủ dày.</a:t>
            </a:r>
          </a:p>
          <a:p>
            <a:r>
              <a:rPr lang="vi-VN" sz="1600" b="1" dirty="0">
                <a:solidFill>
                  <a:srgbClr val="000000"/>
                </a:solidFill>
                <a:latin typeface="Times New Roman" panose="02020603050405020304" pitchFamily="18" charset="0"/>
                <a:cs typeface="Times New Roman" panose="02020603050405020304" pitchFamily="18" charset="0"/>
              </a:rPr>
              <a:t>2. Soi chi tiết 6 sản phẩm (Dựa trên dữ liệu 2014)</a:t>
            </a:r>
          </a:p>
          <a:p>
            <a:r>
              <a:rPr lang="vi-VN" sz="1600" dirty="0">
                <a:solidFill>
                  <a:srgbClr val="000000"/>
                </a:solidFill>
                <a:latin typeface="Times New Roman" panose="02020603050405020304" pitchFamily="18" charset="0"/>
                <a:cs typeface="Times New Roman" panose="02020603050405020304" pitchFamily="18" charset="0"/>
              </a:rPr>
              <a:t>Công ty đang có 3 nhóm sản phẩm với đặc tính tài chính hoàn toàn khác nhau:</a:t>
            </a:r>
          </a:p>
          <a:p>
            <a:r>
              <a:rPr lang="vi-VN" sz="1600" b="1" dirty="0">
                <a:solidFill>
                  <a:srgbClr val="000000"/>
                </a:solidFill>
                <a:latin typeface="Times New Roman" panose="02020603050405020304" pitchFamily="18" charset="0"/>
                <a:cs typeface="Times New Roman" panose="02020603050405020304" pitchFamily="18" charset="0"/>
              </a:rPr>
              <a:t>Nhóm 1: Những "Cỗ máy in tiền" (Paseo, VTT, Amarilla)</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Paseo:</a:t>
            </a:r>
            <a:r>
              <a:rPr lang="vi-VN" sz="1600" dirty="0">
                <a:solidFill>
                  <a:srgbClr val="000000"/>
                </a:solidFill>
                <a:latin typeface="Times New Roman" panose="02020603050405020304" pitchFamily="18" charset="0"/>
                <a:cs typeface="Times New Roman" panose="02020603050405020304" pitchFamily="18" charset="0"/>
              </a:rPr>
              <a:t> Là sản phẩm quyền lực nhất với lợi nhuận </a:t>
            </a:r>
            <a:r>
              <a:rPr lang="vi-VN" sz="1600" b="1" dirty="0">
                <a:solidFill>
                  <a:srgbClr val="000000"/>
                </a:solidFill>
                <a:latin typeface="Times New Roman" panose="02020603050405020304" pitchFamily="18" charset="0"/>
                <a:cs typeface="Times New Roman" panose="02020603050405020304" pitchFamily="18" charset="0"/>
              </a:rPr>
              <a:t>4.79 triệu USD</a:t>
            </a:r>
            <a:r>
              <a:rPr lang="vi-VN" sz="1600" dirty="0">
                <a:solidFill>
                  <a:srgbClr val="000000"/>
                </a:solidFill>
                <a:latin typeface="Times New Roman" panose="02020603050405020304" pitchFamily="18" charset="0"/>
                <a:cs typeface="Times New Roman" panose="02020603050405020304" pitchFamily="18" charset="0"/>
              </a:rPr>
              <a:t>. Dù bị lỗ nhẹ ở Enterprise, nhưng nó thống trị ở mảng Government (Chính phủ) với tỷ trọng lãi </a:t>
            </a:r>
            <a:r>
              <a:rPr lang="vi-VN" sz="1600" b="1" dirty="0">
                <a:solidFill>
                  <a:srgbClr val="000000"/>
                </a:solidFill>
                <a:latin typeface="Times New Roman" panose="02020603050405020304" pitchFamily="18" charset="0"/>
                <a:cs typeface="Times New Roman" panose="02020603050405020304" pitchFamily="18" charset="0"/>
              </a:rPr>
              <a:t>61.63%</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VTT:</a:t>
            </a:r>
            <a:r>
              <a:rPr lang="vi-VN" sz="1600" dirty="0">
                <a:solidFill>
                  <a:srgbClr val="000000"/>
                </a:solidFill>
                <a:latin typeface="Times New Roman" panose="02020603050405020304" pitchFamily="18" charset="0"/>
                <a:cs typeface="Times New Roman" panose="02020603050405020304" pitchFamily="18" charset="0"/>
              </a:rPr>
              <a:t> Đây là sản phẩm quản lý chiết khấu tốt nhất. Tỷ lệ thất thoát chỉ </a:t>
            </a:r>
            <a:r>
              <a:rPr lang="vi-VN" sz="1600" b="1" dirty="0">
                <a:solidFill>
                  <a:srgbClr val="000000"/>
                </a:solidFill>
                <a:latin typeface="Times New Roman" panose="02020603050405020304" pitchFamily="18" charset="0"/>
                <a:cs typeface="Times New Roman" panose="02020603050405020304" pitchFamily="18" charset="0"/>
              </a:rPr>
              <a:t>7.10%</a:t>
            </a:r>
            <a:r>
              <a:rPr lang="vi-VN" sz="1600" dirty="0">
                <a:solidFill>
                  <a:srgbClr val="000000"/>
                </a:solidFill>
                <a:latin typeface="Times New Roman" panose="02020603050405020304" pitchFamily="18" charset="0"/>
                <a:cs typeface="Times New Roman" panose="02020603050405020304" pitchFamily="18" charset="0"/>
              </a:rPr>
              <a:t> (thấp nhất trong 6 loại). Nó cực kỳ thành công ở mảng Small Business (Doanh nghiệp nhỏ) khi mảng này đóng góp tới </a:t>
            </a:r>
            <a:r>
              <a:rPr lang="vi-VN" sz="1600" b="1" dirty="0">
                <a:solidFill>
                  <a:srgbClr val="000000"/>
                </a:solidFill>
                <a:latin typeface="Times New Roman" panose="02020603050405020304" pitchFamily="18" charset="0"/>
                <a:cs typeface="Times New Roman" panose="02020603050405020304" pitchFamily="18" charset="0"/>
              </a:rPr>
              <a:t>30.38%</a:t>
            </a:r>
            <a:r>
              <a:rPr lang="vi-VN" sz="1600" dirty="0">
                <a:solidFill>
                  <a:srgbClr val="000000"/>
                </a:solidFill>
                <a:latin typeface="Times New Roman" panose="02020603050405020304" pitchFamily="18" charset="0"/>
                <a:cs typeface="Times New Roman" panose="02020603050405020304" pitchFamily="18" charset="0"/>
              </a:rPr>
              <a:t> lợi nhuận của VTT.</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Amarilla:</a:t>
            </a:r>
            <a:r>
              <a:rPr lang="vi-VN" sz="1600" dirty="0">
                <a:solidFill>
                  <a:srgbClr val="000000"/>
                </a:solidFill>
                <a:latin typeface="Times New Roman" panose="02020603050405020304" pitchFamily="18" charset="0"/>
                <a:cs typeface="Times New Roman" panose="02020603050405020304" pitchFamily="18" charset="0"/>
              </a:rPr>
              <a:t> Có tỷ lệ lãi từ Chính phủ cao kỷ lục (</a:t>
            </a:r>
            <a:r>
              <a:rPr lang="vi-VN" sz="1600" b="1" dirty="0">
                <a:solidFill>
                  <a:srgbClr val="000000"/>
                </a:solidFill>
                <a:latin typeface="Times New Roman" panose="02020603050405020304" pitchFamily="18" charset="0"/>
                <a:cs typeface="Times New Roman" panose="02020603050405020304" pitchFamily="18" charset="0"/>
              </a:rPr>
              <a:t>73.50%</a:t>
            </a:r>
            <a:r>
              <a:rPr lang="vi-VN" sz="1600" dirty="0">
                <a:solidFill>
                  <a:srgbClr val="000000"/>
                </a:solidFill>
                <a:latin typeface="Times New Roman" panose="02020603050405020304" pitchFamily="18" charset="0"/>
                <a:cs typeface="Times New Roman" panose="02020603050405020304" pitchFamily="18" charset="0"/>
              </a:rPr>
              <a:t>). Đây là sản phẩm "an toàn" nhất vì ít bị phụ thuộc vào các phân khúc gây lỗ.</a:t>
            </a:r>
          </a:p>
          <a:p>
            <a:r>
              <a:rPr lang="vi-VN" sz="1600" b="1" dirty="0">
                <a:solidFill>
                  <a:srgbClr val="000000"/>
                </a:solidFill>
                <a:latin typeface="Times New Roman" panose="02020603050405020304" pitchFamily="18" charset="0"/>
                <a:cs typeface="Times New Roman" panose="02020603050405020304" pitchFamily="18" charset="0"/>
              </a:rPr>
              <a:t>Nhóm 2: Nhóm "Báo động đỏ" (Velo, Montana)</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Velo:</a:t>
            </a:r>
            <a:r>
              <a:rPr lang="vi-VN" sz="1600" dirty="0">
                <a:solidFill>
                  <a:srgbClr val="000000"/>
                </a:solidFill>
                <a:latin typeface="Times New Roman" panose="02020603050405020304" pitchFamily="18" charset="0"/>
                <a:cs typeface="Times New Roman" panose="02020603050405020304" pitchFamily="18" charset="0"/>
              </a:rPr>
              <a:t> Đang có tỷ lệ thất thoát cao nhất công ty (</a:t>
            </a:r>
            <a:r>
              <a:rPr lang="vi-VN" sz="1600" b="1" dirty="0">
                <a:solidFill>
                  <a:srgbClr val="000000"/>
                </a:solidFill>
                <a:latin typeface="Times New Roman" panose="02020603050405020304" pitchFamily="18" charset="0"/>
                <a:cs typeface="Times New Roman" panose="02020603050405020304" pitchFamily="18" charset="0"/>
              </a:rPr>
              <a:t>8.64%</a:t>
            </a:r>
            <a:r>
              <a:rPr lang="vi-VN" sz="1600" dirty="0">
                <a:solidFill>
                  <a:srgbClr val="000000"/>
                </a:solidFill>
                <a:latin typeface="Times New Roman" panose="02020603050405020304" pitchFamily="18" charset="0"/>
                <a:cs typeface="Times New Roman" panose="02020603050405020304" pitchFamily="18" charset="0"/>
              </a:rPr>
              <a:t>). Việc quá lạm dụng giảm giá cho Velo đang bào mòn lợi nhuận nhanh chóng.</a:t>
            </a:r>
          </a:p>
          <a:p>
            <a:pPr>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 </a:t>
            </a:r>
            <a:r>
              <a:rPr lang="vi-VN" sz="1600" b="1" dirty="0">
                <a:solidFill>
                  <a:srgbClr val="000000"/>
                </a:solidFill>
                <a:latin typeface="Times New Roman" panose="02020603050405020304" pitchFamily="18" charset="0"/>
                <a:cs typeface="Times New Roman" panose="02020603050405020304" pitchFamily="18" charset="0"/>
              </a:rPr>
              <a:t>Montana:</a:t>
            </a:r>
            <a:r>
              <a:rPr lang="vi-VN" sz="1600" dirty="0">
                <a:solidFill>
                  <a:srgbClr val="000000"/>
                </a:solidFill>
                <a:latin typeface="Times New Roman" panose="02020603050405020304" pitchFamily="18" charset="0"/>
                <a:cs typeface="Times New Roman" panose="02020603050405020304" pitchFamily="18" charset="0"/>
              </a:rPr>
              <a:t> Mặc dù doanh thu khá ổn, nhưng lợi nhuận của nó lại thuộc hàng thấp nhất (</a:t>
            </a:r>
            <a:r>
              <a:rPr lang="vi-VN" sz="1600" b="1" dirty="0">
                <a:solidFill>
                  <a:srgbClr val="000000"/>
                </a:solidFill>
                <a:latin typeface="Times New Roman" panose="02020603050405020304" pitchFamily="18" charset="0"/>
                <a:cs typeface="Times New Roman" panose="02020603050405020304" pitchFamily="18" charset="0"/>
              </a:rPr>
              <a:t>2.11 triệu USD</a:t>
            </a:r>
            <a:r>
              <a:rPr lang="vi-VN" sz="1600" dirty="0">
                <a:solidFill>
                  <a:srgbClr val="000000"/>
                </a:solidFill>
                <a:latin typeface="Times New Roman" panose="02020603050405020304" pitchFamily="18" charset="0"/>
                <a:cs typeface="Times New Roman" panose="02020603050405020304" pitchFamily="18" charset="0"/>
              </a:rPr>
              <a:t>). Montana cũng đang bị lỗ ở mảng Enterprise và không có mảng Chính phủ gánh mạnh như Amarilla.</a:t>
            </a:r>
          </a:p>
          <a:p>
            <a:r>
              <a:rPr lang="vi-VN" sz="1600" b="1" dirty="0">
                <a:solidFill>
                  <a:srgbClr val="000000"/>
                </a:solidFill>
                <a:latin typeface="Times New Roman" panose="02020603050405020304" pitchFamily="18" charset="0"/>
                <a:cs typeface="Times New Roman" panose="02020603050405020304" pitchFamily="18" charset="0"/>
              </a:rPr>
              <a:t>Nhóm 3: Trường hợp "Hồi sinh" (Carretera)</a:t>
            </a:r>
          </a:p>
          <a:p>
            <a:pP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rPr>
              <a:t> </a:t>
            </a:r>
            <a:r>
              <a:rPr lang="vi-VN" sz="1600" dirty="0">
                <a:solidFill>
                  <a:srgbClr val="000000"/>
                </a:solidFill>
                <a:latin typeface="Times New Roman" panose="02020603050405020304" pitchFamily="18" charset="0"/>
                <a:cs typeface="Times New Roman" panose="02020603050405020304" pitchFamily="18" charset="0"/>
              </a:rPr>
              <a:t>Năm 2013, Carretera chỉ lãi vỏn vẹn </a:t>
            </a:r>
            <a:r>
              <a:rPr lang="vi-VN" sz="1600" b="1" dirty="0">
                <a:solidFill>
                  <a:srgbClr val="000000"/>
                </a:solidFill>
                <a:latin typeface="Times New Roman" panose="02020603050405020304" pitchFamily="18" charset="0"/>
                <a:cs typeface="Times New Roman" panose="02020603050405020304" pitchFamily="18" charset="0"/>
              </a:rPr>
              <a:t>38,768 USD</a:t>
            </a:r>
            <a:r>
              <a:rPr lang="vi-VN" sz="1600" dirty="0">
                <a:solidFill>
                  <a:srgbClr val="000000"/>
                </a:solidFill>
                <a:latin typeface="Times New Roman" panose="02020603050405020304" pitchFamily="18" charset="0"/>
                <a:cs typeface="Times New Roman" panose="02020603050405020304" pitchFamily="18" charset="0"/>
              </a:rPr>
              <a:t> với tỷ lệ thất thoát kinh hoàng </a:t>
            </a:r>
            <a:r>
              <a:rPr lang="vi-VN" sz="1600" b="1" dirty="0">
                <a:solidFill>
                  <a:srgbClr val="000000"/>
                </a:solidFill>
                <a:latin typeface="Times New Roman" panose="02020603050405020304" pitchFamily="18" charset="0"/>
                <a:cs typeface="Times New Roman" panose="02020603050405020304" pitchFamily="18" charset="0"/>
              </a:rPr>
              <a:t>10.61%</a:t>
            </a:r>
            <a:r>
              <a:rPr lang="vi-VN" sz="1600" dirty="0">
                <a:solidFill>
                  <a:srgbClr val="000000"/>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rPr>
              <a:t> </a:t>
            </a:r>
            <a:r>
              <a:rPr lang="vi-VN" sz="1600" dirty="0">
                <a:solidFill>
                  <a:srgbClr val="000000"/>
                </a:solidFill>
                <a:latin typeface="Times New Roman" panose="02020603050405020304" pitchFamily="18" charset="0"/>
                <a:cs typeface="Times New Roman" panose="02020603050405020304" pitchFamily="18" charset="0"/>
              </a:rPr>
              <a:t>Năm 2014, nhờ điều chỉnh giảm tỷ lệ thất thoát xuống </a:t>
            </a:r>
            <a:r>
              <a:rPr lang="vi-VN" sz="1600" b="1" dirty="0">
                <a:solidFill>
                  <a:srgbClr val="000000"/>
                </a:solidFill>
                <a:latin typeface="Times New Roman" panose="02020603050405020304" pitchFamily="18" charset="0"/>
                <a:cs typeface="Times New Roman" panose="02020603050405020304" pitchFamily="18" charset="0"/>
              </a:rPr>
              <a:t>8.12%</a:t>
            </a:r>
            <a:r>
              <a:rPr lang="vi-VN" sz="1600" dirty="0">
                <a:solidFill>
                  <a:srgbClr val="000000"/>
                </a:solidFill>
                <a:latin typeface="Times New Roman" panose="02020603050405020304" pitchFamily="18" charset="0"/>
                <a:cs typeface="Times New Roman" panose="02020603050405020304" pitchFamily="18" charset="0"/>
              </a:rPr>
              <a:t>, lợi nhuận đã vọt lên </a:t>
            </a:r>
            <a:r>
              <a:rPr lang="vi-VN" sz="1600" b="1" dirty="0">
                <a:solidFill>
                  <a:srgbClr val="000000"/>
                </a:solidFill>
                <a:latin typeface="Times New Roman" panose="02020603050405020304" pitchFamily="18" charset="0"/>
                <a:cs typeface="Times New Roman" panose="02020603050405020304" pitchFamily="18" charset="0"/>
              </a:rPr>
              <a:t>1.82 triệu USD</a:t>
            </a:r>
            <a:r>
              <a:rPr lang="vi-VN" sz="1600" dirty="0">
                <a:solidFill>
                  <a:srgbClr val="000000"/>
                </a:solidFill>
                <a:latin typeface="Times New Roman" panose="02020603050405020304" pitchFamily="18" charset="0"/>
                <a:cs typeface="Times New Roman" panose="02020603050405020304" pitchFamily="18" charset="0"/>
              </a:rPr>
              <a:t>. Tuy nhiên, nó vẫn là sản phẩm lỗ nặng nhất ở phân khúc Enterprise, cho thấy giá thành sản xuất hoặc chi phí bán hàng của nó vẫn còn quá cao.</a:t>
            </a:r>
          </a:p>
        </p:txBody>
      </p:sp>
      <p:sp>
        <p:nvSpPr>
          <p:cNvPr id="6" name="TextBox 5">
            <a:extLst>
              <a:ext uri="{FF2B5EF4-FFF2-40B4-BE49-F238E27FC236}">
                <a16:creationId xmlns:a16="http://schemas.microsoft.com/office/drawing/2014/main" id="{4BBD3946-0194-8D19-6724-7219D983A704}"/>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1. </a:t>
            </a:r>
            <a:r>
              <a:rPr lang="en-US" b="1" dirty="0" err="1">
                <a:solidFill>
                  <a:srgbClr val="000000"/>
                </a:solidFill>
                <a:latin typeface="Times New Roman" panose="02020603050405020304" pitchFamily="18" charset="0"/>
                <a:cs typeface="Times New Roman" panose="02020603050405020304" pitchFamily="18" charset="0"/>
              </a:rPr>
              <a:t>Nguyên</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nhân</a:t>
            </a:r>
            <a:endParaRPr lang="en-US"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134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6">
            <a:extLst>
              <a:ext uri="{FF2B5EF4-FFF2-40B4-BE49-F238E27FC236}">
                <a16:creationId xmlns:a16="http://schemas.microsoft.com/office/drawing/2014/main" id="{EFC596FD-D882-8562-73DF-B261867774AE}"/>
              </a:ext>
            </a:extLst>
          </p:cNvPr>
          <p:cNvSpPr txBox="1">
            <a:spLocks/>
          </p:cNvSpPr>
          <p:nvPr/>
        </p:nvSpPr>
        <p:spPr>
          <a:xfrm>
            <a:off x="377662" y="297096"/>
            <a:ext cx="10974699" cy="5822828"/>
          </a:xfrm>
          <a:prstGeom prst="rect">
            <a:avLst/>
          </a:prstGeom>
        </p:spPr>
        <p:txBody>
          <a:bodyPr vert="horz" lIns="91440" tIns="45720" rIns="91440" bIns="45720" rtlCol="0">
            <a:normAutofit/>
          </a:bodyPr>
          <a:lstStyle>
            <a:defPPr>
              <a:defRPr lang="en-GB"/>
            </a:defPPr>
            <a:lvl1pPr marL="283464" indent="-283464" algn="l" defTabSz="914400" rtl="0" eaLnBrk="1" latinLnBrk="0" hangingPunct="1">
              <a:lnSpc>
                <a:spcPct val="100000"/>
              </a:lnSpc>
              <a:spcBef>
                <a:spcPts val="0"/>
              </a:spcBef>
              <a:buFont typeface="Courier New" panose="02070309020205020404" pitchFamily="49" charset="0"/>
              <a:buChar char="o"/>
              <a:defRPr lang="en-GB" sz="1800" kern="1200">
                <a:solidFill>
                  <a:schemeClr val="accent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lang="en-GB" sz="1600" kern="1200">
                <a:solidFill>
                  <a:schemeClr val="accent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lang="en-GB" sz="1400" kern="1200">
                <a:solidFill>
                  <a:schemeClr val="accent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lang="en-GB" sz="12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mn-lt"/>
                <a:ea typeface="+mn-ea"/>
                <a:cs typeface="+mn-cs"/>
              </a:defRPr>
            </a:lvl9pPr>
          </a:lstStyle>
          <a:p>
            <a:pPr marL="0" indent="0">
              <a:buNone/>
            </a:pPr>
            <a:endParaRPr lang="vi-VN" dirty="0"/>
          </a:p>
          <a:p>
            <a:pPr marL="0" indent="0">
              <a:buNone/>
            </a:pPr>
            <a:endParaRPr lang="vi-VN" dirty="0">
              <a:latin typeface="+mj-lt"/>
            </a:endParaRPr>
          </a:p>
        </p:txBody>
      </p:sp>
      <p:sp>
        <p:nvSpPr>
          <p:cNvPr id="4" name="TextBox 3">
            <a:extLst>
              <a:ext uri="{FF2B5EF4-FFF2-40B4-BE49-F238E27FC236}">
                <a16:creationId xmlns:a16="http://schemas.microsoft.com/office/drawing/2014/main" id="{5B6B1AD5-C277-71B0-B538-A8D7B37567E9}"/>
              </a:ext>
            </a:extLst>
          </p:cNvPr>
          <p:cNvSpPr txBox="1"/>
          <p:nvPr/>
        </p:nvSpPr>
        <p:spPr>
          <a:xfrm>
            <a:off x="377662" y="533234"/>
            <a:ext cx="11350206" cy="4278094"/>
          </a:xfrm>
          <a:prstGeom prst="rect">
            <a:avLst/>
          </a:prstGeom>
          <a:noFill/>
        </p:spPr>
        <p:txBody>
          <a:bodyPr wrap="square">
            <a:spAutoFit/>
          </a:bodyPr>
          <a:lstStyle/>
          <a:p>
            <a:r>
              <a:rPr lang="en-US" sz="1600" b="1" dirty="0">
                <a:solidFill>
                  <a:srgbClr val="000000"/>
                </a:solidFill>
                <a:latin typeface="Times New Roman" panose="02020603050405020304" pitchFamily="18" charset="0"/>
                <a:cs typeface="Times New Roman" panose="02020603050405020304" pitchFamily="18" charset="0"/>
              </a:rPr>
              <a:t>1 </a:t>
            </a:r>
            <a:r>
              <a:rPr lang="vi-VN" sz="1600" b="1" dirty="0">
                <a:solidFill>
                  <a:srgbClr val="000000"/>
                </a:solidFill>
                <a:latin typeface="Times New Roman" panose="02020603050405020304" pitchFamily="18" charset="0"/>
                <a:cs typeface="Times New Roman" panose="02020603050405020304" pitchFamily="18" charset="0"/>
              </a:rPr>
              <a:t>Chiến thuật 1: Áp dụng "Giá sàn" cho Enterprise</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Hành động:</a:t>
            </a:r>
            <a:r>
              <a:rPr lang="vi-VN" sz="1600" dirty="0">
                <a:solidFill>
                  <a:srgbClr val="000000"/>
                </a:solidFill>
                <a:latin typeface="Times New Roman" panose="02020603050405020304" pitchFamily="18" charset="0"/>
                <a:cs typeface="Times New Roman" panose="02020603050405020304" pitchFamily="18" charset="0"/>
              </a:rPr>
              <a:t> Thiết lập mức chiết khấu tối đa cho phân khúc Enterprise là </a:t>
            </a:r>
            <a:r>
              <a:rPr lang="vi-VN" sz="1600" b="1" dirty="0">
                <a:solidFill>
                  <a:srgbClr val="000000"/>
                </a:solidFill>
                <a:latin typeface="Times New Roman" panose="02020603050405020304" pitchFamily="18" charset="0"/>
                <a:cs typeface="Times New Roman" panose="02020603050405020304" pitchFamily="18" charset="0"/>
              </a:rPr>
              <a:t>8%</a:t>
            </a:r>
            <a:r>
              <a:rPr lang="vi-VN" sz="1600" dirty="0">
                <a:solidFill>
                  <a:srgbClr val="000000"/>
                </a:solidFill>
                <a:latin typeface="Times New Roman" panose="02020603050405020304" pitchFamily="18" charset="0"/>
                <a:cs typeface="Times New Roman" panose="02020603050405020304" pitchFamily="18" charset="0"/>
              </a:rPr>
              <a:t> (tương đương mức Medium).</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Mục tiêu:</a:t>
            </a:r>
            <a:r>
              <a:rPr lang="vi-VN" sz="1600" dirty="0">
                <a:solidFill>
                  <a:srgbClr val="000000"/>
                </a:solidFill>
                <a:latin typeface="Times New Roman" panose="02020603050405020304" pitchFamily="18" charset="0"/>
                <a:cs typeface="Times New Roman" panose="02020603050405020304" pitchFamily="18" charset="0"/>
              </a:rPr>
              <a:t> Đưa mảng Enterprise từ lỗ sang hòa vốn. Nếu khách hàng yêu cầu giảm giá cao hơn (mức High - 14.23%), bộ phận thẩm định phải từ chối vì bán sẽ bị lỗ vốn.</a:t>
            </a:r>
          </a:p>
          <a:p>
            <a:r>
              <a:rPr lang="en-US" sz="1600" b="1" dirty="0">
                <a:solidFill>
                  <a:srgbClr val="000000"/>
                </a:solidFill>
                <a:latin typeface="Times New Roman" panose="02020603050405020304" pitchFamily="18" charset="0"/>
                <a:cs typeface="Times New Roman" panose="02020603050405020304" pitchFamily="18" charset="0"/>
              </a:rPr>
              <a:t>2 </a:t>
            </a:r>
            <a:r>
              <a:rPr lang="vi-VN" sz="1600" b="1" dirty="0">
                <a:solidFill>
                  <a:srgbClr val="000000"/>
                </a:solidFill>
                <a:latin typeface="Times New Roman" panose="02020603050405020304" pitchFamily="18" charset="0"/>
                <a:cs typeface="Times New Roman" panose="02020603050405020304" pitchFamily="18" charset="0"/>
              </a:rPr>
              <a:t>Chiến thuật 2: Tối ưu hóa "Mỏ vàng" Government &amp; Small Business</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Hành động:</a:t>
            </a:r>
            <a:r>
              <a:rPr lang="vi-VN" sz="1600" dirty="0">
                <a:solidFill>
                  <a:srgbClr val="000000"/>
                </a:solidFill>
                <a:latin typeface="Times New Roman" panose="02020603050405020304" pitchFamily="18" charset="0"/>
                <a:cs typeface="Times New Roman" panose="02020603050405020304" pitchFamily="18" charset="0"/>
              </a:rPr>
              <a:t> Dồn 70% ngân sách marketing vào hai phân khúc này.</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Lý do:</a:t>
            </a:r>
            <a:r>
              <a:rPr lang="vi-VN" sz="1600" dirty="0">
                <a:solidFill>
                  <a:srgbClr val="000000"/>
                </a:solidFill>
                <a:latin typeface="Times New Roman" panose="02020603050405020304" pitchFamily="18" charset="0"/>
                <a:cs typeface="Times New Roman" panose="02020603050405020304" pitchFamily="18" charset="0"/>
              </a:rPr>
              <a:t> Đây là nơi khách hàng ít nhạy cảm về giá hơn nhưng lại mang về biên lợi nhuận cực cao (Government đóng góp trên 50% lãi cho hầu hết sản phẩm).</a:t>
            </a:r>
          </a:p>
          <a:p>
            <a:r>
              <a:rPr lang="en-US" sz="1600" b="1" dirty="0">
                <a:solidFill>
                  <a:srgbClr val="000000"/>
                </a:solidFill>
                <a:latin typeface="Times New Roman" panose="02020603050405020304" pitchFamily="18" charset="0"/>
                <a:cs typeface="Times New Roman" panose="02020603050405020304" pitchFamily="18" charset="0"/>
              </a:rPr>
              <a:t>3 </a:t>
            </a:r>
            <a:r>
              <a:rPr lang="vi-VN" sz="1600" b="1" dirty="0">
                <a:solidFill>
                  <a:srgbClr val="000000"/>
                </a:solidFill>
                <a:latin typeface="Times New Roman" panose="02020603050405020304" pitchFamily="18" charset="0"/>
                <a:cs typeface="Times New Roman" panose="02020603050405020304" pitchFamily="18" charset="0"/>
              </a:rPr>
              <a:t>Chiến thuật 3: Kiểm soát "Thất thoát" theo tháng</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Hành động:</a:t>
            </a:r>
            <a:r>
              <a:rPr lang="vi-VN" sz="1600" dirty="0">
                <a:solidFill>
                  <a:srgbClr val="000000"/>
                </a:solidFill>
                <a:latin typeface="Times New Roman" panose="02020603050405020304" pitchFamily="18" charset="0"/>
                <a:cs typeface="Times New Roman" panose="02020603050405020304" pitchFamily="18" charset="0"/>
              </a:rPr>
              <a:t> Theo dõi biểu đồ doanh thu theo tháng. Tháng 10 thường là đỉnh cao doanh thu (9.3M) nhưng lợi nhuận (1.7M) lại không tăng trưởng tương xứng.</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Lý do:</a:t>
            </a:r>
            <a:r>
              <a:rPr lang="vi-VN" sz="1600" dirty="0">
                <a:solidFill>
                  <a:srgbClr val="000000"/>
                </a:solidFill>
                <a:latin typeface="Times New Roman" panose="02020603050405020304" pitchFamily="18" charset="0"/>
                <a:cs typeface="Times New Roman" panose="02020603050405020304" pitchFamily="18" charset="0"/>
              </a:rPr>
              <a:t> Có thể nhân viên đã chạy đua doanh số cuối năm bằng cách tung ra các đợt giảm giá "High" bừa bãi. Cần siết chiết khấu vào các tháng cao điểm này.</a:t>
            </a:r>
          </a:p>
          <a:p>
            <a:r>
              <a:rPr lang="en-US" sz="1600" b="1" dirty="0">
                <a:solidFill>
                  <a:srgbClr val="000000"/>
                </a:solidFill>
                <a:latin typeface="Times New Roman" panose="02020603050405020304" pitchFamily="18" charset="0"/>
                <a:cs typeface="Times New Roman" panose="02020603050405020304" pitchFamily="18" charset="0"/>
              </a:rPr>
              <a:t>4 </a:t>
            </a:r>
            <a:r>
              <a:rPr lang="vi-VN" sz="1600" b="1" dirty="0">
                <a:solidFill>
                  <a:srgbClr val="000000"/>
                </a:solidFill>
                <a:latin typeface="Times New Roman" panose="02020603050405020304" pitchFamily="18" charset="0"/>
                <a:cs typeface="Times New Roman" panose="02020603050405020304" pitchFamily="18" charset="0"/>
              </a:rPr>
              <a:t>Chiến thuật 4: Điều chỉnh danh mục theo Quốc gia</a:t>
            </a:r>
          </a:p>
          <a:p>
            <a:pPr>
              <a:buFont typeface="Arial" panose="020B0604020202020204" pitchFamily="34" charset="0"/>
              <a:buChar char="•"/>
            </a:pPr>
            <a:r>
              <a:rPr lang="vi-VN" sz="1600" b="1" dirty="0">
                <a:solidFill>
                  <a:srgbClr val="000000"/>
                </a:solidFill>
                <a:latin typeface="Times New Roman" panose="02020603050405020304" pitchFamily="18" charset="0"/>
                <a:cs typeface="Times New Roman" panose="02020603050405020304" pitchFamily="18" charset="0"/>
              </a:rPr>
              <a:t>Hành động:</a:t>
            </a:r>
            <a:r>
              <a:rPr lang="vi-VN" sz="1600" dirty="0">
                <a:solidFill>
                  <a:srgbClr val="000000"/>
                </a:solidFill>
                <a:latin typeface="Times New Roman" panose="02020603050405020304" pitchFamily="18" charset="0"/>
                <a:cs typeface="Times New Roman" panose="02020603050405020304" pitchFamily="18" charset="0"/>
              </a:rPr>
              <a:t> Đẩy mạnh bán </a:t>
            </a:r>
            <a:r>
              <a:rPr lang="vi-VN" sz="1600" b="1" dirty="0">
                <a:solidFill>
                  <a:srgbClr val="000000"/>
                </a:solidFill>
                <a:latin typeface="Times New Roman" panose="02020603050405020304" pitchFamily="18" charset="0"/>
                <a:cs typeface="Times New Roman" panose="02020603050405020304" pitchFamily="18" charset="0"/>
              </a:rPr>
              <a:t>Velo</a:t>
            </a:r>
            <a:r>
              <a:rPr lang="vi-VN" sz="1600" dirty="0">
                <a:solidFill>
                  <a:srgbClr val="000000"/>
                </a:solidFill>
                <a:latin typeface="Times New Roman" panose="02020603050405020304" pitchFamily="18" charset="0"/>
                <a:cs typeface="Times New Roman" panose="02020603050405020304" pitchFamily="18" charset="0"/>
              </a:rPr>
              <a:t> tại Đức (thị trường có tỷ số tài chính cao nhất - 18%) và hạn chế các chương trình giảm giá sâu tại Mỹ (nơi có tỷ số thấp nhất - 11%).</a:t>
            </a:r>
          </a:p>
          <a:p>
            <a:endParaRPr lang="vi-VN" sz="1600" dirty="0">
              <a:solidFill>
                <a:srgbClr val="00000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9F5F23D-B97C-0E13-177E-9561F2C1C267}"/>
              </a:ext>
            </a:extLst>
          </p:cNvPr>
          <p:cNvSpPr txBox="1"/>
          <p:nvPr/>
        </p:nvSpPr>
        <p:spPr>
          <a:xfrm>
            <a:off x="365760" y="163902"/>
            <a:ext cx="4999870" cy="369332"/>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2. </a:t>
            </a:r>
            <a:r>
              <a:rPr lang="en-US" b="1" dirty="0" err="1">
                <a:solidFill>
                  <a:srgbClr val="000000"/>
                </a:solidFill>
                <a:latin typeface="Times New Roman" panose="02020603050405020304" pitchFamily="18" charset="0"/>
                <a:cs typeface="Times New Roman" panose="02020603050405020304" pitchFamily="18" charset="0"/>
              </a:rPr>
              <a:t>Giải</a:t>
            </a:r>
            <a:r>
              <a:rPr lang="en-US" b="1" dirty="0">
                <a:solidFill>
                  <a:srgbClr val="000000"/>
                </a:solidFill>
                <a:latin typeface="Times New Roman" panose="02020603050405020304" pitchFamily="18" charset="0"/>
                <a:cs typeface="Times New Roman" panose="02020603050405020304" pitchFamily="18" charset="0"/>
              </a:rPr>
              <a:t> </a:t>
            </a:r>
            <a:r>
              <a:rPr lang="en-US" b="1" dirty="0" err="1">
                <a:solidFill>
                  <a:srgbClr val="000000"/>
                </a:solidFill>
                <a:latin typeface="Times New Roman" panose="02020603050405020304" pitchFamily="18" charset="0"/>
                <a:cs typeface="Times New Roman" panose="02020603050405020304" pitchFamily="18" charset="0"/>
              </a:rPr>
              <a:t>pháp</a:t>
            </a:r>
            <a:endParaRPr lang="en-US"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843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rtlCol="0"/>
          <a:lstStyle>
            <a:defPPr>
              <a:defRPr lang="en-GB"/>
            </a:defPPr>
          </a:lstStyle>
          <a:p>
            <a:pPr rtl="0"/>
            <a:r>
              <a:rPr lang="en-GB" sz="4800" dirty="0">
                <a:solidFill>
                  <a:srgbClr val="000000"/>
                </a:solidFill>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770823_TF11964407_Win32" id="{B93CAFD1-3682-48B9-AB4D-B17AE97EAEF6}" vid="{42E63F67-4AC8-49A2-8D09-A38E4C6451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{20C1C52C-B237-49A9-9F1A-1056F4584FC5}TF1ed9553b-00c4-4092-846a-c8f7f2908f3be0eeb089_win32-2e31fd388d0f</Template>
  <TotalTime>153</TotalTime>
  <Words>4129</Words>
  <Application>Microsoft Office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Courier New</vt:lpstr>
      <vt:lpstr>Gill Sans Nova</vt:lpstr>
      <vt:lpstr>Gill Sans Nova Light</vt:lpstr>
      <vt:lpstr>Sagona Book</vt:lpstr>
      <vt:lpstr>Times New Roman</vt:lpstr>
      <vt:lpstr>Office Theme</vt:lpstr>
      <vt:lpstr>Bảng báo cáo</vt:lpstr>
      <vt:lpstr>Mục lục</vt:lpstr>
      <vt:lpstr>Tổng quan chung tình hình công ty</vt:lpstr>
      <vt:lpstr>PowerPoint Presentation</vt:lpstr>
      <vt:lpstr>PowerPoint Presentation</vt:lpstr>
      <vt:lpstr>PowerPoint Presentation</vt:lpstr>
      <vt:lpstr>PowerPoint Presentation</vt:lpstr>
      <vt:lpstr>PowerPoint Presentation</vt:lpstr>
      <vt:lpstr>Nhận Xét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Nguyên nhân và giải pháp</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dc:creator>
  <cp:lastModifiedBy>Th�i</cp:lastModifiedBy>
  <cp:revision>1</cp:revision>
  <dcterms:created xsi:type="dcterms:W3CDTF">2026-02-05T18:23:32Z</dcterms:created>
  <dcterms:modified xsi:type="dcterms:W3CDTF">2026-02-05T20:57:32Z</dcterms:modified>
</cp:coreProperties>
</file>